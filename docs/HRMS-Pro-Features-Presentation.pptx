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  <p:sldId id="271" r:id="rId22"/>
    <p:sldId id="272" r:id="rId23"/>
    <p:sldId id="273" r:id="rId24"/>
    <p:sldId id="274" r:id="rId25"/>
    <p:sldId id="275" r:id="rId26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Relationship Id="rId21" Type="http://schemas.openxmlformats.org/officeDocument/2006/relationships/slide" Target="slides/slide15.xml"/><Relationship Id="rId22" Type="http://schemas.openxmlformats.org/officeDocument/2006/relationships/slide" Target="slides/slide16.xml"/><Relationship Id="rId23" Type="http://schemas.openxmlformats.org/officeDocument/2006/relationships/slide" Target="slides/slide17.xml"/><Relationship Id="rId24" Type="http://schemas.openxmlformats.org/officeDocument/2006/relationships/slide" Target="slides/slide18.xml"/><Relationship Id="rId25" Type="http://schemas.openxmlformats.org/officeDocument/2006/relationships/slide" Target="slides/slide19.xml"/><Relationship Id="rId26" Type="http://schemas.openxmlformats.org/officeDocument/2006/relationships/slide" Target="slides/slide20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B4D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5394960"/>
            <a:ext cx="12191695" cy="1463040"/>
          </a:xfrm>
          <a:prstGeom prst="rect">
            <a:avLst/>
          </a:prstGeom>
          <a:solidFill>
            <a:srgbClr val="2A6F5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822960" y="1828800"/>
            <a:ext cx="100584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000" b="1">
                <a:solidFill>
                  <a:srgbClr val="C4A35A"/>
                </a:solidFill>
                <a:latin typeface="Calibri"/>
              </a:rPr>
              <a:t>HRMS PRO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22960" y="2286000"/>
            <a:ext cx="1051560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4000" b="1">
                <a:solidFill>
                  <a:srgbClr val="FFFFFF"/>
                </a:solidFill>
                <a:latin typeface="Calibri"/>
              </a:rPr>
              <a:t>Human Resource &amp; Payroll System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22960" y="3474720"/>
            <a:ext cx="100584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000" b="0">
                <a:solidFill>
                  <a:srgbClr val="C8D9D3"/>
                </a:solidFill>
                <a:latin typeface="Calibri"/>
              </a:rPr>
              <a:t>A simple walkthrough of every feature in the platform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22960" y="5715000"/>
            <a:ext cx="10058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0">
                <a:solidFill>
                  <a:srgbClr val="FFFFFF"/>
                </a:solidFill>
                <a:latin typeface="Calibri"/>
              </a:rPr>
              <a:t>Multi-tenant  ·  Secure  ·  AI-assisted  ·  End-to-end HR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22960" y="6126480"/>
            <a:ext cx="100584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>
                <a:solidFill>
                  <a:srgbClr val="B0C8C0"/>
                </a:solidFill>
                <a:latin typeface="Calibri"/>
              </a:rPr>
              <a:t>Presentation Overview  |  2026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5F7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73152"/>
          </a:xfrm>
          <a:prstGeom prst="rect">
            <a:avLst/>
          </a:prstGeom>
          <a:solidFill>
            <a:srgbClr val="1B4D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6784848"/>
            <a:ext cx="12191695" cy="73152"/>
          </a:xfrm>
          <a:prstGeom prst="rect">
            <a:avLst/>
          </a:prstGeom>
          <a:solidFill>
            <a:srgbClr val="1B4D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40080" y="320040"/>
            <a:ext cx="100584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200" b="1">
                <a:solidFill>
                  <a:srgbClr val="1B4D3E"/>
                </a:solidFill>
                <a:latin typeface="Calibri"/>
              </a:rPr>
              <a:t>Agenda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822960"/>
            <a:ext cx="10515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0">
                <a:solidFill>
                  <a:srgbClr val="5A6662"/>
                </a:solidFill>
                <a:latin typeface="Calibri"/>
              </a:rPr>
              <a:t>What we will cover today</a:t>
            </a:r>
          </a:p>
        </p:txBody>
      </p:sp>
      <p:sp>
        <p:nvSpPr>
          <p:cNvPr id="7" name="Rectangle 6"/>
          <p:cNvSpPr/>
          <p:nvPr/>
        </p:nvSpPr>
        <p:spPr>
          <a:xfrm>
            <a:off x="640080" y="1234440"/>
            <a:ext cx="1097280" cy="54864"/>
          </a:xfrm>
          <a:prstGeom prst="rect">
            <a:avLst/>
          </a:prstGeom>
          <a:solidFill>
            <a:srgbClr val="C4A35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822960" y="1554480"/>
            <a:ext cx="530352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1800"/>
              </a:spcAft>
            </a:pPr>
            <a:r>
              <a:rPr sz="2000" b="0">
                <a:solidFill>
                  <a:srgbClr val="1A1F1E"/>
                </a:solidFill>
                <a:latin typeface="Calibri"/>
              </a:rPr>
              <a:t>•  1.  What is HRMS Pro?</a:t>
            </a:r>
          </a:p>
          <a:p>
            <a:pPr algn="l">
              <a:spcAft>
                <a:spcPts val="1800"/>
              </a:spcAft>
            </a:pPr>
            <a:r>
              <a:rPr sz="2000" b="0">
                <a:solidFill>
                  <a:srgbClr val="1A1F1E"/>
                </a:solidFill>
                <a:latin typeface="Calibri"/>
              </a:rPr>
              <a:t>•  2.  Who uses it &amp; how tenants work</a:t>
            </a:r>
          </a:p>
          <a:p>
            <a:pPr algn="l">
              <a:spcAft>
                <a:spcPts val="1800"/>
              </a:spcAft>
            </a:pPr>
            <a:r>
              <a:rPr sz="2000" b="0">
                <a:solidFill>
                  <a:srgbClr val="1A1F1E"/>
                </a:solidFill>
                <a:latin typeface="Calibri"/>
              </a:rPr>
              <a:t>•  3.  People modules (Employees, Recruitment, Casuals)</a:t>
            </a:r>
          </a:p>
          <a:p>
            <a:pPr algn="l">
              <a:spcAft>
                <a:spcPts val="1800"/>
              </a:spcAft>
            </a:pPr>
            <a:r>
              <a:rPr sz="2000" b="0">
                <a:solidFill>
                  <a:srgbClr val="1A1F1E"/>
                </a:solidFill>
                <a:latin typeface="Calibri"/>
              </a:rPr>
              <a:t>•  4.  Daily operations (Leave, Attendance, Payroll)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400800" y="1554480"/>
            <a:ext cx="502920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1800"/>
              </a:spcAft>
            </a:pPr>
            <a:r>
              <a:rPr sz="2000" b="0">
                <a:solidFill>
                  <a:srgbClr val="1A1F1E"/>
                </a:solidFill>
                <a:latin typeface="Calibri"/>
              </a:rPr>
              <a:t>•  5.  Growth &amp; governance (Performance, Relations, Surveys)</a:t>
            </a:r>
          </a:p>
          <a:p>
            <a:pPr algn="l">
              <a:spcAft>
                <a:spcPts val="1800"/>
              </a:spcAft>
            </a:pPr>
            <a:r>
              <a:rPr sz="2000" b="0">
                <a:solidFill>
                  <a:srgbClr val="1A1F1E"/>
                </a:solidFill>
                <a:latin typeface="Calibri"/>
              </a:rPr>
              <a:t>•  6.  AI, Reports &amp; Integrations</a:t>
            </a:r>
          </a:p>
          <a:p>
            <a:pPr algn="l">
              <a:spcAft>
                <a:spcPts val="1800"/>
              </a:spcAft>
            </a:pPr>
            <a:r>
              <a:rPr sz="2000" b="0">
                <a:solidFill>
                  <a:srgbClr val="1A1F1E"/>
                </a:solidFill>
                <a:latin typeface="Calibri"/>
              </a:rPr>
              <a:t>•  7.  Security, roles &amp; settings</a:t>
            </a:r>
          </a:p>
          <a:p>
            <a:pPr algn="l">
              <a:spcAft>
                <a:spcPts val="1800"/>
              </a:spcAft>
            </a:pPr>
            <a:r>
              <a:rPr sz="2000" b="0">
                <a:solidFill>
                  <a:srgbClr val="1A1F1E"/>
                </a:solidFill>
                <a:latin typeface="Calibri"/>
              </a:rPr>
              <a:t>•  8.  Key benefits &amp; closing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5F7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73152"/>
          </a:xfrm>
          <a:prstGeom prst="rect">
            <a:avLst/>
          </a:prstGeom>
          <a:solidFill>
            <a:srgbClr val="1B4D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6784848"/>
            <a:ext cx="12191695" cy="73152"/>
          </a:xfrm>
          <a:prstGeom prst="rect">
            <a:avLst/>
          </a:prstGeom>
          <a:solidFill>
            <a:srgbClr val="1B4D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40080" y="320040"/>
            <a:ext cx="100584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200" b="1">
                <a:solidFill>
                  <a:srgbClr val="1B4D3E"/>
                </a:solidFill>
                <a:latin typeface="Calibri"/>
              </a:rPr>
              <a:t>What is HRMS Pro?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822960"/>
            <a:ext cx="10515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0">
                <a:solidFill>
                  <a:srgbClr val="5A6662"/>
                </a:solidFill>
                <a:latin typeface="Calibri"/>
              </a:rPr>
              <a:t>One platform for the full employee lifecycle</a:t>
            </a:r>
          </a:p>
        </p:txBody>
      </p:sp>
      <p:sp>
        <p:nvSpPr>
          <p:cNvPr id="7" name="Rectangle 6"/>
          <p:cNvSpPr/>
          <p:nvPr/>
        </p:nvSpPr>
        <p:spPr>
          <a:xfrm>
            <a:off x="640080" y="1234440"/>
            <a:ext cx="1097280" cy="54864"/>
          </a:xfrm>
          <a:prstGeom prst="rect">
            <a:avLst/>
          </a:prstGeom>
          <a:solidFill>
            <a:srgbClr val="C4A35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822960" y="1554480"/>
            <a:ext cx="1051560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1400"/>
              </a:spcAft>
            </a:pPr>
            <a:r>
              <a:rPr sz="2000" b="0">
                <a:solidFill>
                  <a:srgbClr val="1A1F1E"/>
                </a:solidFill>
                <a:latin typeface="Calibri"/>
              </a:rPr>
              <a:t>•  A complete Human Resource Management System for companies of any size</a:t>
            </a:r>
          </a:p>
          <a:p>
            <a:pPr algn="l">
              <a:spcAft>
                <a:spcPts val="1400"/>
              </a:spcAft>
            </a:pPr>
            <a:r>
              <a:rPr sz="2000" b="0">
                <a:solidFill>
                  <a:srgbClr val="1A1F1E"/>
                </a:solidFill>
                <a:latin typeface="Calibri"/>
              </a:rPr>
              <a:t>•  Covers hiring → onboarding → attendance → leave → payroll → performance</a:t>
            </a:r>
          </a:p>
          <a:p>
            <a:pPr algn="l">
              <a:spcAft>
                <a:spcPts val="1400"/>
              </a:spcAft>
            </a:pPr>
            <a:r>
              <a:rPr sz="2000" b="0">
                <a:solidFill>
                  <a:srgbClr val="1A1F1E"/>
                </a:solidFill>
                <a:latin typeface="Calibri"/>
              </a:rPr>
              <a:t>•  Each company (tenant) has its own secure workspace and data</a:t>
            </a:r>
          </a:p>
          <a:p>
            <a:pPr algn="l">
              <a:spcAft>
                <a:spcPts val="1400"/>
              </a:spcAft>
            </a:pPr>
            <a:r>
              <a:rPr sz="2000" b="0">
                <a:solidFill>
                  <a:srgbClr val="1A1F1E"/>
                </a:solidFill>
                <a:latin typeface="Calibri"/>
              </a:rPr>
              <a:t>•  Web dashboard for HR, managers, payroll officers, and employees</a:t>
            </a:r>
          </a:p>
          <a:p>
            <a:pPr algn="l">
              <a:spcAft>
                <a:spcPts val="1400"/>
              </a:spcAft>
            </a:pPr>
            <a:r>
              <a:rPr sz="2000" b="0">
                <a:solidFill>
                  <a:srgbClr val="1A1F1E"/>
                </a:solidFill>
                <a:latin typeface="Calibri"/>
              </a:rPr>
              <a:t>•  REST API ready for mobile apps and external systems</a:t>
            </a:r>
          </a:p>
          <a:p>
            <a:pPr algn="l">
              <a:spcAft>
                <a:spcPts val="1400"/>
              </a:spcAft>
            </a:pPr>
            <a:r>
              <a:rPr sz="2000" b="0">
                <a:solidFill>
                  <a:srgbClr val="1A1F1E"/>
                </a:solidFill>
                <a:latin typeface="Calibri"/>
              </a:rPr>
              <a:t>•  Smart AI helpers for screening, anomalies, and leave decisions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5F7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73152"/>
          </a:xfrm>
          <a:prstGeom prst="rect">
            <a:avLst/>
          </a:prstGeom>
          <a:solidFill>
            <a:srgbClr val="1B4D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6784848"/>
            <a:ext cx="12191695" cy="73152"/>
          </a:xfrm>
          <a:prstGeom prst="rect">
            <a:avLst/>
          </a:prstGeom>
          <a:solidFill>
            <a:srgbClr val="1B4D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40080" y="320040"/>
            <a:ext cx="100584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200" b="1">
                <a:solidFill>
                  <a:srgbClr val="1B4D3E"/>
                </a:solidFill>
                <a:latin typeface="Calibri"/>
              </a:rPr>
              <a:t>Who Uses the System?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822960"/>
            <a:ext cx="10515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0">
                <a:solidFill>
                  <a:srgbClr val="5A6662"/>
                </a:solidFill>
                <a:latin typeface="Calibri"/>
              </a:rPr>
              <a:t>Role-based access — everyone sees what they need</a:t>
            </a:r>
          </a:p>
        </p:txBody>
      </p:sp>
      <p:sp>
        <p:nvSpPr>
          <p:cNvPr id="7" name="Rectangle 6"/>
          <p:cNvSpPr/>
          <p:nvPr/>
        </p:nvSpPr>
        <p:spPr>
          <a:xfrm>
            <a:off x="640080" y="1234440"/>
            <a:ext cx="1097280" cy="54864"/>
          </a:xfrm>
          <a:prstGeom prst="rect">
            <a:avLst/>
          </a:prstGeom>
          <a:solidFill>
            <a:srgbClr val="C4A35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ounded Rectangle 7"/>
          <p:cNvSpPr/>
          <p:nvPr/>
        </p:nvSpPr>
        <p:spPr>
          <a:xfrm>
            <a:off x="640080" y="1508760"/>
            <a:ext cx="3566160" cy="2148840"/>
          </a:xfrm>
          <a:prstGeom prst="roundRect">
            <a:avLst/>
          </a:prstGeom>
          <a:solidFill>
            <a:srgbClr val="FFFFFF"/>
          </a:solidFill>
          <a:ln>
            <a:solidFill>
              <a:srgbClr val="D5E0D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640080" y="1508760"/>
            <a:ext cx="109728" cy="2148840"/>
          </a:xfrm>
          <a:prstGeom prst="rect">
            <a:avLst/>
          </a:prstGeom>
          <a:solidFill>
            <a:srgbClr val="2A6F5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914400" y="1673352"/>
            <a:ext cx="3200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1">
                <a:solidFill>
                  <a:srgbClr val="1B4D3E"/>
                </a:solidFill>
                <a:latin typeface="Calibri"/>
              </a:rPr>
              <a:t>Super Admin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868680" y="2011680"/>
            <a:ext cx="3200400" cy="1508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</a:pPr>
            <a:r>
              <a:rPr sz="1300" b="0">
                <a:solidFill>
                  <a:srgbClr val="5A6662"/>
                </a:solidFill>
                <a:latin typeface="Calibri"/>
              </a:rPr>
              <a:t>•  Full control</a:t>
            </a:r>
          </a:p>
          <a:p>
            <a:pPr algn="l">
              <a:spcAft>
                <a:spcPts val="600"/>
              </a:spcAft>
            </a:pPr>
            <a:r>
              <a:rPr sz="1300" b="0">
                <a:solidFill>
                  <a:srgbClr val="5A6662"/>
                </a:solidFill>
                <a:latin typeface="Calibri"/>
              </a:rPr>
              <a:t>•  Enable/disable roles</a:t>
            </a:r>
          </a:p>
          <a:p>
            <a:pPr algn="l">
              <a:spcAft>
                <a:spcPts val="600"/>
              </a:spcAft>
            </a:pPr>
            <a:r>
              <a:rPr sz="1300" b="0">
                <a:solidFill>
                  <a:srgbClr val="5A6662"/>
                </a:solidFill>
                <a:latin typeface="Calibri"/>
              </a:rPr>
              <a:t>•  Company settings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4389119" y="1508760"/>
            <a:ext cx="3566160" cy="2148840"/>
          </a:xfrm>
          <a:prstGeom prst="roundRect">
            <a:avLst/>
          </a:prstGeom>
          <a:solidFill>
            <a:srgbClr val="FFFFFF"/>
          </a:solidFill>
          <a:ln>
            <a:solidFill>
              <a:srgbClr val="D5E0D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4389119" y="1508760"/>
            <a:ext cx="109728" cy="2148840"/>
          </a:xfrm>
          <a:prstGeom prst="rect">
            <a:avLst/>
          </a:prstGeom>
          <a:solidFill>
            <a:srgbClr val="2A6F5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4663439" y="1673352"/>
            <a:ext cx="3200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1">
                <a:solidFill>
                  <a:srgbClr val="1B4D3E"/>
                </a:solidFill>
                <a:latin typeface="Calibri"/>
              </a:rPr>
              <a:t>HR Admin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4617719" y="2011680"/>
            <a:ext cx="3200400" cy="1508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</a:pPr>
            <a:r>
              <a:rPr sz="1300" b="0">
                <a:solidFill>
                  <a:srgbClr val="5A6662"/>
                </a:solidFill>
                <a:latin typeface="Calibri"/>
              </a:rPr>
              <a:t>•  Employees &amp; hiring</a:t>
            </a:r>
          </a:p>
          <a:p>
            <a:pPr algn="l">
              <a:spcAft>
                <a:spcPts val="600"/>
              </a:spcAft>
            </a:pPr>
            <a:r>
              <a:rPr sz="1300" b="0">
                <a:solidFill>
                  <a:srgbClr val="5A6662"/>
                </a:solidFill>
                <a:latin typeface="Calibri"/>
              </a:rPr>
              <a:t>•  Leave policies</a:t>
            </a:r>
          </a:p>
          <a:p>
            <a:pPr algn="l">
              <a:spcAft>
                <a:spcPts val="600"/>
              </a:spcAft>
            </a:pPr>
            <a:r>
              <a:rPr sz="1300" b="0">
                <a:solidFill>
                  <a:srgbClr val="5A6662"/>
                </a:solidFill>
                <a:latin typeface="Calibri"/>
              </a:rPr>
              <a:t>•  Org structure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8138159" y="1508760"/>
            <a:ext cx="3566160" cy="2148840"/>
          </a:xfrm>
          <a:prstGeom prst="roundRect">
            <a:avLst/>
          </a:prstGeom>
          <a:solidFill>
            <a:srgbClr val="FFFFFF"/>
          </a:solidFill>
          <a:ln>
            <a:solidFill>
              <a:srgbClr val="D5E0D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8138159" y="1508760"/>
            <a:ext cx="109728" cy="2148840"/>
          </a:xfrm>
          <a:prstGeom prst="rect">
            <a:avLst/>
          </a:prstGeom>
          <a:solidFill>
            <a:srgbClr val="2A6F5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8412479" y="1673352"/>
            <a:ext cx="3200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1">
                <a:solidFill>
                  <a:srgbClr val="1B4D3E"/>
                </a:solidFill>
                <a:latin typeface="Calibri"/>
              </a:rPr>
              <a:t>Payroll Officer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8366759" y="2011680"/>
            <a:ext cx="3200400" cy="1508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</a:pPr>
            <a:r>
              <a:rPr sz="1300" b="0">
                <a:solidFill>
                  <a:srgbClr val="5A6662"/>
                </a:solidFill>
                <a:latin typeface="Calibri"/>
              </a:rPr>
              <a:t>•  Payroll runs</a:t>
            </a:r>
          </a:p>
          <a:p>
            <a:pPr algn="l">
              <a:spcAft>
                <a:spcPts val="600"/>
              </a:spcAft>
            </a:pPr>
            <a:r>
              <a:rPr sz="1300" b="0">
                <a:solidFill>
                  <a:srgbClr val="5A6662"/>
                </a:solidFill>
                <a:latin typeface="Calibri"/>
              </a:rPr>
              <a:t>•  Payslips &amp; loans</a:t>
            </a:r>
          </a:p>
          <a:p>
            <a:pPr algn="l">
              <a:spcAft>
                <a:spcPts val="600"/>
              </a:spcAft>
            </a:pPr>
            <a:r>
              <a:rPr sz="1300" b="0">
                <a:solidFill>
                  <a:srgbClr val="5A6662"/>
                </a:solidFill>
                <a:latin typeface="Calibri"/>
              </a:rPr>
              <a:t>•  Compliance checks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640080" y="3840480"/>
            <a:ext cx="3566160" cy="2148840"/>
          </a:xfrm>
          <a:prstGeom prst="roundRect">
            <a:avLst/>
          </a:prstGeom>
          <a:solidFill>
            <a:srgbClr val="FFFFFF"/>
          </a:solidFill>
          <a:ln>
            <a:solidFill>
              <a:srgbClr val="D5E0D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ectangle 20"/>
          <p:cNvSpPr/>
          <p:nvPr/>
        </p:nvSpPr>
        <p:spPr>
          <a:xfrm>
            <a:off x="640080" y="3840480"/>
            <a:ext cx="109728" cy="2148840"/>
          </a:xfrm>
          <a:prstGeom prst="rect">
            <a:avLst/>
          </a:prstGeom>
          <a:solidFill>
            <a:srgbClr val="2A6F5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914400" y="4005072"/>
            <a:ext cx="3200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1">
                <a:solidFill>
                  <a:srgbClr val="1B4D3E"/>
                </a:solidFill>
                <a:latin typeface="Calibri"/>
              </a:rPr>
              <a:t>Managers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868680" y="4343400"/>
            <a:ext cx="3200400" cy="1508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</a:pPr>
            <a:r>
              <a:rPr sz="1300" b="0">
                <a:solidFill>
                  <a:srgbClr val="5A6662"/>
                </a:solidFill>
                <a:latin typeface="Calibri"/>
              </a:rPr>
              <a:t>•  Approve leave</a:t>
            </a:r>
          </a:p>
          <a:p>
            <a:pPr algn="l">
              <a:spcAft>
                <a:spcPts val="600"/>
              </a:spcAft>
            </a:pPr>
            <a:r>
              <a:rPr sz="1300" b="0">
                <a:solidFill>
                  <a:srgbClr val="5A6662"/>
                </a:solidFill>
                <a:latin typeface="Calibri"/>
              </a:rPr>
              <a:t>•  Team performance</a:t>
            </a:r>
          </a:p>
          <a:p>
            <a:pPr algn="l">
              <a:spcAft>
                <a:spcPts val="600"/>
              </a:spcAft>
            </a:pPr>
            <a:r>
              <a:rPr sz="1300" b="0">
                <a:solidFill>
                  <a:srgbClr val="5A6662"/>
                </a:solidFill>
                <a:latin typeface="Calibri"/>
              </a:rPr>
              <a:t>•  Attendance oversight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4389119" y="3840480"/>
            <a:ext cx="3566160" cy="2148840"/>
          </a:xfrm>
          <a:prstGeom prst="roundRect">
            <a:avLst/>
          </a:prstGeom>
          <a:solidFill>
            <a:srgbClr val="FFFFFF"/>
          </a:solidFill>
          <a:ln>
            <a:solidFill>
              <a:srgbClr val="D5E0D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Rectangle 24"/>
          <p:cNvSpPr/>
          <p:nvPr/>
        </p:nvSpPr>
        <p:spPr>
          <a:xfrm>
            <a:off x="4389119" y="3840480"/>
            <a:ext cx="109728" cy="2148840"/>
          </a:xfrm>
          <a:prstGeom prst="rect">
            <a:avLst/>
          </a:prstGeom>
          <a:solidFill>
            <a:srgbClr val="2A6F5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4663439" y="4005072"/>
            <a:ext cx="3200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1">
                <a:solidFill>
                  <a:srgbClr val="1B4D3E"/>
                </a:solidFill>
                <a:latin typeface="Calibri"/>
              </a:rPr>
              <a:t>Employees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4617719" y="4343400"/>
            <a:ext cx="3200400" cy="1508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</a:pPr>
            <a:r>
              <a:rPr sz="1300" b="0">
                <a:solidFill>
                  <a:srgbClr val="5A6662"/>
                </a:solidFill>
                <a:latin typeface="Calibri"/>
              </a:rPr>
              <a:t>•  Self-service portal</a:t>
            </a:r>
          </a:p>
          <a:p>
            <a:pPr algn="l">
              <a:spcAft>
                <a:spcPts val="600"/>
              </a:spcAft>
            </a:pPr>
            <a:r>
              <a:rPr sz="1300" b="0">
                <a:solidFill>
                  <a:srgbClr val="5A6662"/>
                </a:solidFill>
                <a:latin typeface="Calibri"/>
              </a:rPr>
              <a:t>•  Apply leave</a:t>
            </a:r>
          </a:p>
          <a:p>
            <a:pPr algn="l">
              <a:spcAft>
                <a:spcPts val="600"/>
              </a:spcAft>
            </a:pPr>
            <a:r>
              <a:rPr sz="1300" b="0">
                <a:solidFill>
                  <a:srgbClr val="5A6662"/>
                </a:solidFill>
                <a:latin typeface="Calibri"/>
              </a:rPr>
              <a:t>•  View payslips</a:t>
            </a:r>
          </a:p>
        </p:txBody>
      </p:sp>
      <p:sp>
        <p:nvSpPr>
          <p:cNvPr id="28" name="Rounded Rectangle 27"/>
          <p:cNvSpPr/>
          <p:nvPr/>
        </p:nvSpPr>
        <p:spPr>
          <a:xfrm>
            <a:off x="8138159" y="3840480"/>
            <a:ext cx="3566160" cy="2148840"/>
          </a:xfrm>
          <a:prstGeom prst="roundRect">
            <a:avLst/>
          </a:prstGeom>
          <a:solidFill>
            <a:srgbClr val="FFFFFF"/>
          </a:solidFill>
          <a:ln>
            <a:solidFill>
              <a:srgbClr val="D5E0D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Rectangle 28"/>
          <p:cNvSpPr/>
          <p:nvPr/>
        </p:nvSpPr>
        <p:spPr>
          <a:xfrm>
            <a:off x="8138159" y="3840480"/>
            <a:ext cx="109728" cy="2148840"/>
          </a:xfrm>
          <a:prstGeom prst="rect">
            <a:avLst/>
          </a:prstGeom>
          <a:solidFill>
            <a:srgbClr val="2A6F5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8412479" y="4005072"/>
            <a:ext cx="3200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1">
                <a:solidFill>
                  <a:srgbClr val="1B4D3E"/>
                </a:solidFill>
                <a:latin typeface="Calibri"/>
              </a:rPr>
              <a:t>Auditor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8366759" y="4343400"/>
            <a:ext cx="3200400" cy="1508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</a:pPr>
            <a:r>
              <a:rPr sz="1300" b="0">
                <a:solidFill>
                  <a:srgbClr val="5A6662"/>
                </a:solidFill>
                <a:latin typeface="Calibri"/>
              </a:rPr>
              <a:t>•  Read-only access</a:t>
            </a:r>
          </a:p>
          <a:p>
            <a:pPr algn="l">
              <a:spcAft>
                <a:spcPts val="600"/>
              </a:spcAft>
            </a:pPr>
            <a:r>
              <a:rPr sz="1300" b="0">
                <a:solidFill>
                  <a:srgbClr val="5A6662"/>
                </a:solidFill>
                <a:latin typeface="Calibri"/>
              </a:rPr>
              <a:t>•  Audit trails</a:t>
            </a:r>
          </a:p>
          <a:p>
            <a:pPr algn="l">
              <a:spcAft>
                <a:spcPts val="600"/>
              </a:spcAft>
            </a:pPr>
            <a:r>
              <a:rPr sz="1300" b="0">
                <a:solidFill>
                  <a:srgbClr val="5A6662"/>
                </a:solidFill>
                <a:latin typeface="Calibri"/>
              </a:rPr>
              <a:t>•  Compliance review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5F7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73152"/>
          </a:xfrm>
          <a:prstGeom prst="rect">
            <a:avLst/>
          </a:prstGeom>
          <a:solidFill>
            <a:srgbClr val="1B4D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6784848"/>
            <a:ext cx="12191695" cy="73152"/>
          </a:xfrm>
          <a:prstGeom prst="rect">
            <a:avLst/>
          </a:prstGeom>
          <a:solidFill>
            <a:srgbClr val="1B4D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40080" y="320040"/>
            <a:ext cx="100584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200" b="1">
                <a:solidFill>
                  <a:srgbClr val="1B4D3E"/>
                </a:solidFill>
                <a:latin typeface="Calibri"/>
              </a:rPr>
              <a:t>Multi-Tenant by Design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822960"/>
            <a:ext cx="10515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0">
                <a:solidFill>
                  <a:srgbClr val="5A6662"/>
                </a:solidFill>
                <a:latin typeface="Calibri"/>
              </a:rPr>
              <a:t>Every company is isolated and secure</a:t>
            </a:r>
          </a:p>
        </p:txBody>
      </p:sp>
      <p:sp>
        <p:nvSpPr>
          <p:cNvPr id="7" name="Rectangle 6"/>
          <p:cNvSpPr/>
          <p:nvPr/>
        </p:nvSpPr>
        <p:spPr>
          <a:xfrm>
            <a:off x="640080" y="1234440"/>
            <a:ext cx="1097280" cy="54864"/>
          </a:xfrm>
          <a:prstGeom prst="rect">
            <a:avLst/>
          </a:prstGeom>
          <a:solidFill>
            <a:srgbClr val="C4A35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822960" y="1554480"/>
            <a:ext cx="1051560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1600"/>
              </a:spcAft>
            </a:pPr>
            <a:r>
              <a:rPr sz="2000" b="0">
                <a:solidFill>
                  <a:srgbClr val="1A1F1E"/>
                </a:solidFill>
                <a:latin typeface="Calibri"/>
              </a:rPr>
              <a:t>•  Each tenant has a unique portal URL, e.g. /t/acme-corp/</a:t>
            </a:r>
          </a:p>
          <a:p>
            <a:pPr algn="l">
              <a:spcAft>
                <a:spcPts val="1600"/>
              </a:spcAft>
            </a:pPr>
            <a:r>
              <a:rPr sz="2000" b="0">
                <a:solidFill>
                  <a:srgbClr val="1A1F1E"/>
                </a:solidFill>
                <a:latin typeface="Calibri"/>
              </a:rPr>
              <a:t>•  Company data never mixes with another organization</a:t>
            </a:r>
          </a:p>
          <a:p>
            <a:pPr algn="l">
              <a:spcAft>
                <a:spcPts val="1600"/>
              </a:spcAft>
            </a:pPr>
            <a:r>
              <a:rPr sz="2000" b="0">
                <a:solidFill>
                  <a:srgbClr val="1A1F1E"/>
                </a:solidFill>
                <a:latin typeface="Calibri"/>
              </a:rPr>
              <a:t>•  Branches, departments, and designations per company</a:t>
            </a:r>
          </a:p>
          <a:p>
            <a:pPr algn="l">
              <a:spcAft>
                <a:spcPts val="1600"/>
              </a:spcAft>
            </a:pPr>
            <a:r>
              <a:rPr sz="2000" b="0">
                <a:solidFill>
                  <a:srgbClr val="1A1F1E"/>
                </a:solidFill>
                <a:latin typeface="Calibri"/>
              </a:rPr>
              <a:t>•  Super Admin can turn roles on/off to match that tenant’s needs</a:t>
            </a:r>
          </a:p>
          <a:p>
            <a:pPr algn="l">
              <a:spcAft>
                <a:spcPts val="1600"/>
              </a:spcAft>
            </a:pPr>
            <a:r>
              <a:rPr sz="2000" b="0">
                <a:solidFill>
                  <a:srgbClr val="1A1F1E"/>
                </a:solidFill>
                <a:latin typeface="Calibri"/>
              </a:rPr>
              <a:t>•  Ideal for SaaS: onboard many companies on one platform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5F7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73152"/>
          </a:xfrm>
          <a:prstGeom prst="rect">
            <a:avLst/>
          </a:prstGeom>
          <a:solidFill>
            <a:srgbClr val="1B4D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6784848"/>
            <a:ext cx="12191695" cy="73152"/>
          </a:xfrm>
          <a:prstGeom prst="rect">
            <a:avLst/>
          </a:prstGeom>
          <a:solidFill>
            <a:srgbClr val="1B4D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40080" y="320040"/>
            <a:ext cx="100584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200" b="1">
                <a:solidFill>
                  <a:srgbClr val="1B4D3E"/>
                </a:solidFill>
                <a:latin typeface="Calibri"/>
              </a:rPr>
              <a:t>Feature Map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822960"/>
            <a:ext cx="10515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0">
                <a:solidFill>
                  <a:srgbClr val="5A6662"/>
                </a:solidFill>
                <a:latin typeface="Calibri"/>
              </a:rPr>
              <a:t>All major modules at a glance</a:t>
            </a:r>
          </a:p>
        </p:txBody>
      </p:sp>
      <p:sp>
        <p:nvSpPr>
          <p:cNvPr id="7" name="Rectangle 6"/>
          <p:cNvSpPr/>
          <p:nvPr/>
        </p:nvSpPr>
        <p:spPr>
          <a:xfrm>
            <a:off x="640080" y="1234440"/>
            <a:ext cx="1097280" cy="54864"/>
          </a:xfrm>
          <a:prstGeom prst="rect">
            <a:avLst/>
          </a:prstGeom>
          <a:solidFill>
            <a:srgbClr val="C4A35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ounded Rectangle 7"/>
          <p:cNvSpPr/>
          <p:nvPr/>
        </p:nvSpPr>
        <p:spPr>
          <a:xfrm>
            <a:off x="502920" y="1645920"/>
            <a:ext cx="2148840" cy="4389120"/>
          </a:xfrm>
          <a:prstGeom prst="roundRect">
            <a:avLst/>
          </a:prstGeom>
          <a:solidFill>
            <a:srgbClr val="FFFFFF"/>
          </a:solidFill>
          <a:ln>
            <a:solidFill>
              <a:srgbClr val="D5E0D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502920" y="1645920"/>
            <a:ext cx="109728" cy="4389120"/>
          </a:xfrm>
          <a:prstGeom prst="rect">
            <a:avLst/>
          </a:prstGeom>
          <a:solidFill>
            <a:srgbClr val="2A6F5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777240" y="1810512"/>
            <a:ext cx="17830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1">
                <a:solidFill>
                  <a:srgbClr val="1B4D3E"/>
                </a:solidFill>
                <a:latin typeface="Calibri"/>
              </a:rPr>
              <a:t>People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31520" y="2148840"/>
            <a:ext cx="1783080" cy="3749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</a:pPr>
            <a:r>
              <a:rPr sz="1300" b="0">
                <a:solidFill>
                  <a:srgbClr val="5A6662"/>
                </a:solidFill>
                <a:latin typeface="Calibri"/>
              </a:rPr>
              <a:t>•  Employees</a:t>
            </a:r>
          </a:p>
          <a:p>
            <a:pPr algn="l">
              <a:spcAft>
                <a:spcPts val="600"/>
              </a:spcAft>
            </a:pPr>
            <a:r>
              <a:rPr sz="1300" b="0">
                <a:solidFill>
                  <a:srgbClr val="5A6662"/>
                </a:solidFill>
                <a:latin typeface="Calibri"/>
              </a:rPr>
              <a:t>•  Recruitment</a:t>
            </a:r>
          </a:p>
          <a:p>
            <a:pPr algn="l">
              <a:spcAft>
                <a:spcPts val="600"/>
              </a:spcAft>
            </a:pPr>
            <a:r>
              <a:rPr sz="1300" b="0">
                <a:solidFill>
                  <a:srgbClr val="5A6662"/>
                </a:solidFill>
                <a:latin typeface="Calibri"/>
              </a:rPr>
              <a:t>•  Casuals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2788920" y="1645920"/>
            <a:ext cx="2148840" cy="4389120"/>
          </a:xfrm>
          <a:prstGeom prst="roundRect">
            <a:avLst/>
          </a:prstGeom>
          <a:solidFill>
            <a:srgbClr val="FFFFFF"/>
          </a:solidFill>
          <a:ln>
            <a:solidFill>
              <a:srgbClr val="D5E0D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2788920" y="1645920"/>
            <a:ext cx="109728" cy="4389120"/>
          </a:xfrm>
          <a:prstGeom prst="rect">
            <a:avLst/>
          </a:prstGeom>
          <a:solidFill>
            <a:srgbClr val="2A6F5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3063240" y="1810512"/>
            <a:ext cx="17830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1">
                <a:solidFill>
                  <a:srgbClr val="1B4D3E"/>
                </a:solidFill>
                <a:latin typeface="Calibri"/>
              </a:rPr>
              <a:t>Operations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3017520" y="2148840"/>
            <a:ext cx="1783080" cy="3749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</a:pPr>
            <a:r>
              <a:rPr sz="1300" b="0">
                <a:solidFill>
                  <a:srgbClr val="5A6662"/>
                </a:solidFill>
                <a:latin typeface="Calibri"/>
              </a:rPr>
              <a:t>•  Leave</a:t>
            </a:r>
          </a:p>
          <a:p>
            <a:pPr algn="l">
              <a:spcAft>
                <a:spcPts val="600"/>
              </a:spcAft>
            </a:pPr>
            <a:r>
              <a:rPr sz="1300" b="0">
                <a:solidFill>
                  <a:srgbClr val="5A6662"/>
                </a:solidFill>
                <a:latin typeface="Calibri"/>
              </a:rPr>
              <a:t>•  Attendance</a:t>
            </a:r>
          </a:p>
          <a:p>
            <a:pPr algn="l">
              <a:spcAft>
                <a:spcPts val="600"/>
              </a:spcAft>
            </a:pPr>
            <a:r>
              <a:rPr sz="1300" b="0">
                <a:solidFill>
                  <a:srgbClr val="5A6662"/>
                </a:solidFill>
                <a:latin typeface="Calibri"/>
              </a:rPr>
              <a:t>•  Payroll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5074920" y="1645920"/>
            <a:ext cx="2148840" cy="4389120"/>
          </a:xfrm>
          <a:prstGeom prst="roundRect">
            <a:avLst/>
          </a:prstGeom>
          <a:solidFill>
            <a:srgbClr val="FFFFFF"/>
          </a:solidFill>
          <a:ln>
            <a:solidFill>
              <a:srgbClr val="D5E0D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5074920" y="1645920"/>
            <a:ext cx="109728" cy="4389120"/>
          </a:xfrm>
          <a:prstGeom prst="rect">
            <a:avLst/>
          </a:prstGeom>
          <a:solidFill>
            <a:srgbClr val="2A6F5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5349240" y="1810512"/>
            <a:ext cx="17830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1">
                <a:solidFill>
                  <a:srgbClr val="1B4D3E"/>
                </a:solidFill>
                <a:latin typeface="Calibri"/>
              </a:rPr>
              <a:t>Growth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5303520" y="2148840"/>
            <a:ext cx="1783080" cy="3749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</a:pPr>
            <a:r>
              <a:rPr sz="1300" b="0">
                <a:solidFill>
                  <a:srgbClr val="5A6662"/>
                </a:solidFill>
                <a:latin typeface="Calibri"/>
              </a:rPr>
              <a:t>•  Performance</a:t>
            </a:r>
          </a:p>
          <a:p>
            <a:pPr algn="l">
              <a:spcAft>
                <a:spcPts val="600"/>
              </a:spcAft>
            </a:pPr>
            <a:r>
              <a:rPr sz="1300" b="0">
                <a:solidFill>
                  <a:srgbClr val="5A6662"/>
                </a:solidFill>
                <a:latin typeface="Calibri"/>
              </a:rPr>
              <a:t>•  Surveys</a:t>
            </a:r>
          </a:p>
          <a:p>
            <a:pPr algn="l">
              <a:spcAft>
                <a:spcPts val="600"/>
              </a:spcAft>
            </a:pPr>
            <a:r>
              <a:rPr sz="1300" b="0">
                <a:solidFill>
                  <a:srgbClr val="5A6662"/>
                </a:solidFill>
                <a:latin typeface="Calibri"/>
              </a:rPr>
              <a:t>•  Feedback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7360920" y="1645920"/>
            <a:ext cx="2148840" cy="4389120"/>
          </a:xfrm>
          <a:prstGeom prst="roundRect">
            <a:avLst/>
          </a:prstGeom>
          <a:solidFill>
            <a:srgbClr val="FFFFFF"/>
          </a:solidFill>
          <a:ln>
            <a:solidFill>
              <a:srgbClr val="D5E0D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ectangle 20"/>
          <p:cNvSpPr/>
          <p:nvPr/>
        </p:nvSpPr>
        <p:spPr>
          <a:xfrm>
            <a:off x="7360920" y="1645920"/>
            <a:ext cx="109728" cy="4389120"/>
          </a:xfrm>
          <a:prstGeom prst="rect">
            <a:avLst/>
          </a:prstGeom>
          <a:solidFill>
            <a:srgbClr val="2A6F5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7635240" y="1810512"/>
            <a:ext cx="17830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1">
                <a:solidFill>
                  <a:srgbClr val="1B4D3E"/>
                </a:solidFill>
                <a:latin typeface="Calibri"/>
              </a:rPr>
              <a:t>Governance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7589520" y="2148840"/>
            <a:ext cx="1783080" cy="3749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</a:pPr>
            <a:r>
              <a:rPr sz="1300" b="0">
                <a:solidFill>
                  <a:srgbClr val="5A6662"/>
                </a:solidFill>
                <a:latin typeface="Calibri"/>
              </a:rPr>
              <a:t>•  Relations</a:t>
            </a:r>
          </a:p>
          <a:p>
            <a:pPr algn="l">
              <a:spcAft>
                <a:spcPts val="600"/>
              </a:spcAft>
            </a:pPr>
            <a:r>
              <a:rPr sz="1300" b="0">
                <a:solidFill>
                  <a:srgbClr val="5A6662"/>
                </a:solidFill>
                <a:latin typeface="Calibri"/>
              </a:rPr>
              <a:t>•  Disciplinary</a:t>
            </a:r>
          </a:p>
          <a:p>
            <a:pPr algn="l">
              <a:spcAft>
                <a:spcPts val="600"/>
              </a:spcAft>
            </a:pPr>
            <a:r>
              <a:rPr sz="1300" b="0">
                <a:solidFill>
                  <a:srgbClr val="5A6662"/>
                </a:solidFill>
                <a:latin typeface="Calibri"/>
              </a:rPr>
              <a:t>•  Roles &amp; Settings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9646920" y="1645920"/>
            <a:ext cx="2148840" cy="4389120"/>
          </a:xfrm>
          <a:prstGeom prst="roundRect">
            <a:avLst/>
          </a:prstGeom>
          <a:solidFill>
            <a:srgbClr val="FFFFFF"/>
          </a:solidFill>
          <a:ln>
            <a:solidFill>
              <a:srgbClr val="D5E0D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Rectangle 24"/>
          <p:cNvSpPr/>
          <p:nvPr/>
        </p:nvSpPr>
        <p:spPr>
          <a:xfrm>
            <a:off x="9646920" y="1645920"/>
            <a:ext cx="109728" cy="4389120"/>
          </a:xfrm>
          <a:prstGeom prst="rect">
            <a:avLst/>
          </a:prstGeom>
          <a:solidFill>
            <a:srgbClr val="2A6F5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9921240" y="1810512"/>
            <a:ext cx="17830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1">
                <a:solidFill>
                  <a:srgbClr val="1B4D3E"/>
                </a:solidFill>
                <a:latin typeface="Calibri"/>
              </a:rPr>
              <a:t>Intelligence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9875520" y="2148840"/>
            <a:ext cx="1783080" cy="3749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</a:pPr>
            <a:r>
              <a:rPr sz="1300" b="0">
                <a:solidFill>
                  <a:srgbClr val="5A6662"/>
                </a:solidFill>
                <a:latin typeface="Calibri"/>
              </a:rPr>
              <a:t>•  AI Assistant</a:t>
            </a:r>
          </a:p>
          <a:p>
            <a:pPr algn="l">
              <a:spcAft>
                <a:spcPts val="600"/>
              </a:spcAft>
            </a:pPr>
            <a:r>
              <a:rPr sz="1300" b="0">
                <a:solidFill>
                  <a:srgbClr val="5A6662"/>
                </a:solidFill>
                <a:latin typeface="Calibri"/>
              </a:rPr>
              <a:t>•  Reports</a:t>
            </a:r>
          </a:p>
          <a:p>
            <a:pPr algn="l">
              <a:spcAft>
                <a:spcPts val="600"/>
              </a:spcAft>
            </a:pPr>
            <a:r>
              <a:rPr sz="1300" b="0">
                <a:solidFill>
                  <a:srgbClr val="5A6662"/>
                </a:solidFill>
                <a:latin typeface="Calibri"/>
              </a:rPr>
              <a:t>•  Integrations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5F7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73152"/>
          </a:xfrm>
          <a:prstGeom prst="rect">
            <a:avLst/>
          </a:prstGeom>
          <a:solidFill>
            <a:srgbClr val="1B4D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6784848"/>
            <a:ext cx="12191695" cy="73152"/>
          </a:xfrm>
          <a:prstGeom prst="rect">
            <a:avLst/>
          </a:prstGeom>
          <a:solidFill>
            <a:srgbClr val="1B4D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40080" y="320040"/>
            <a:ext cx="100584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200" b="1">
                <a:solidFill>
                  <a:srgbClr val="1B4D3E"/>
                </a:solidFill>
                <a:latin typeface="Calibri"/>
              </a:rPr>
              <a:t>1. Employee Management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822960"/>
            <a:ext cx="10515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0">
                <a:solidFill>
                  <a:srgbClr val="5A6662"/>
                </a:solidFill>
                <a:latin typeface="Calibri"/>
              </a:rPr>
              <a:t>Your central people directory</a:t>
            </a:r>
          </a:p>
        </p:txBody>
      </p:sp>
      <p:sp>
        <p:nvSpPr>
          <p:cNvPr id="7" name="Rectangle 6"/>
          <p:cNvSpPr/>
          <p:nvPr/>
        </p:nvSpPr>
        <p:spPr>
          <a:xfrm>
            <a:off x="640080" y="1234440"/>
            <a:ext cx="1097280" cy="54864"/>
          </a:xfrm>
          <a:prstGeom prst="rect">
            <a:avLst/>
          </a:prstGeom>
          <a:solidFill>
            <a:srgbClr val="C4A35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822960" y="1554480"/>
            <a:ext cx="548640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1200"/>
              </a:spcAft>
            </a:pPr>
            <a:r>
              <a:rPr sz="1900" b="0">
                <a:solidFill>
                  <a:srgbClr val="1A1F1E"/>
                </a:solidFill>
                <a:latin typeface="Calibri"/>
              </a:rPr>
              <a:t>•  Create and manage employee profiles</a:t>
            </a:r>
          </a:p>
          <a:p>
            <a:pPr algn="l">
              <a:spcAft>
                <a:spcPts val="1200"/>
              </a:spcAft>
            </a:pPr>
            <a:r>
              <a:rPr sz="1900" b="0">
                <a:solidFill>
                  <a:srgbClr val="1A1F1E"/>
                </a:solidFill>
                <a:latin typeface="Calibri"/>
              </a:rPr>
              <a:t>•  Track ID, contact, status, join date</a:t>
            </a:r>
          </a:p>
          <a:p>
            <a:pPr algn="l">
              <a:spcAft>
                <a:spcPts val="1200"/>
              </a:spcAft>
            </a:pPr>
            <a:r>
              <a:rPr sz="1900" b="0">
                <a:solidFill>
                  <a:srgbClr val="1A1F1E"/>
                </a:solidFill>
                <a:latin typeface="Calibri"/>
              </a:rPr>
              <a:t>•  Link to department, designation, branch</a:t>
            </a:r>
          </a:p>
          <a:p>
            <a:pPr algn="l">
              <a:spcAft>
                <a:spcPts val="1200"/>
              </a:spcAft>
            </a:pPr>
            <a:r>
              <a:rPr sz="1900" b="0">
                <a:solidFill>
                  <a:srgbClr val="1A1F1E"/>
                </a:solidFill>
                <a:latin typeface="Calibri"/>
              </a:rPr>
              <a:t>•  Assign reporting managers</a:t>
            </a:r>
          </a:p>
          <a:p>
            <a:pPr algn="l">
              <a:spcAft>
                <a:spcPts val="1200"/>
              </a:spcAft>
            </a:pPr>
            <a:r>
              <a:rPr sz="1900" b="0">
                <a:solidFill>
                  <a:srgbClr val="1A1F1E"/>
                </a:solidFill>
                <a:latin typeface="Calibri"/>
              </a:rPr>
              <a:t>•  Soft-delete keeps history safe</a:t>
            </a:r>
          </a:p>
          <a:p>
            <a:pPr algn="l">
              <a:spcAft>
                <a:spcPts val="1200"/>
              </a:spcAft>
            </a:pPr>
            <a:r>
              <a:rPr sz="1900" b="0">
                <a:solidFill>
                  <a:srgbClr val="1A1F1E"/>
                </a:solidFill>
                <a:latin typeface="Calibri"/>
              </a:rPr>
              <a:t>•  Quick search and detail panel view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675120" y="1645920"/>
            <a:ext cx="4754880" cy="4114800"/>
          </a:xfrm>
          <a:prstGeom prst="roundRect">
            <a:avLst/>
          </a:prstGeom>
          <a:solidFill>
            <a:srgbClr val="FFFFFF"/>
          </a:solidFill>
          <a:ln>
            <a:solidFill>
              <a:srgbClr val="D5E0D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6675120" y="1645920"/>
            <a:ext cx="109728" cy="4114800"/>
          </a:xfrm>
          <a:prstGeom prst="rect">
            <a:avLst/>
          </a:prstGeom>
          <a:solidFill>
            <a:srgbClr val="2A6F5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6949440" y="1810512"/>
            <a:ext cx="43891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1">
                <a:solidFill>
                  <a:srgbClr val="1B4D3E"/>
                </a:solidFill>
                <a:latin typeface="Calibri"/>
              </a:rPr>
              <a:t>Why it matters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903720" y="2148840"/>
            <a:ext cx="4389120" cy="34747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</a:pPr>
            <a:r>
              <a:rPr sz="1300" b="0">
                <a:solidFill>
                  <a:srgbClr val="5A6662"/>
                </a:solidFill>
                <a:latin typeface="Calibri"/>
              </a:rPr>
              <a:t>•  Single source of truth for staff data</a:t>
            </a:r>
          </a:p>
          <a:p>
            <a:pPr algn="l">
              <a:spcAft>
                <a:spcPts val="600"/>
              </a:spcAft>
            </a:pPr>
            <a:r>
              <a:rPr sz="1300" b="0">
                <a:solidFill>
                  <a:srgbClr val="5A6662"/>
                </a:solidFill>
                <a:latin typeface="Calibri"/>
              </a:rPr>
              <a:t>•  Feeds leave, payroll, and performance</a:t>
            </a:r>
          </a:p>
          <a:p>
            <a:pPr algn="l">
              <a:spcAft>
                <a:spcPts val="600"/>
              </a:spcAft>
            </a:pPr>
            <a:r>
              <a:rPr sz="1300" b="0">
                <a:solidFill>
                  <a:srgbClr val="5A6662"/>
                </a:solidFill>
                <a:latin typeface="Calibri"/>
              </a:rPr>
              <a:t>•  Supports permanent &amp; contract types</a:t>
            </a:r>
          </a:p>
          <a:p>
            <a:pPr algn="l">
              <a:spcAft>
                <a:spcPts val="600"/>
              </a:spcAft>
            </a:pPr>
            <a:r>
              <a:rPr sz="1300" b="0">
                <a:solidFill>
                  <a:srgbClr val="5A6662"/>
                </a:solidFill>
                <a:latin typeface="Calibri"/>
              </a:rPr>
              <a:t>•  HR can update records in seconds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5F7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73152"/>
          </a:xfrm>
          <a:prstGeom prst="rect">
            <a:avLst/>
          </a:prstGeom>
          <a:solidFill>
            <a:srgbClr val="1B4D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6784848"/>
            <a:ext cx="12191695" cy="73152"/>
          </a:xfrm>
          <a:prstGeom prst="rect">
            <a:avLst/>
          </a:prstGeom>
          <a:solidFill>
            <a:srgbClr val="1B4D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40080" y="320040"/>
            <a:ext cx="100584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200" b="1">
                <a:solidFill>
                  <a:srgbClr val="1B4D3E"/>
                </a:solidFill>
                <a:latin typeface="Calibri"/>
              </a:rPr>
              <a:t>2. Recruitment &amp; Onboarding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822960"/>
            <a:ext cx="10515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0">
                <a:solidFill>
                  <a:srgbClr val="5A6662"/>
                </a:solidFill>
                <a:latin typeface="Calibri"/>
              </a:rPr>
              <a:t>From job posting to hired employee</a:t>
            </a:r>
          </a:p>
        </p:txBody>
      </p:sp>
      <p:sp>
        <p:nvSpPr>
          <p:cNvPr id="7" name="Rectangle 6"/>
          <p:cNvSpPr/>
          <p:nvPr/>
        </p:nvSpPr>
        <p:spPr>
          <a:xfrm>
            <a:off x="640080" y="1234440"/>
            <a:ext cx="1097280" cy="54864"/>
          </a:xfrm>
          <a:prstGeom prst="rect">
            <a:avLst/>
          </a:prstGeom>
          <a:solidFill>
            <a:srgbClr val="C4A35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ounded Rectangle 7"/>
          <p:cNvSpPr/>
          <p:nvPr/>
        </p:nvSpPr>
        <p:spPr>
          <a:xfrm>
            <a:off x="640080" y="1554480"/>
            <a:ext cx="3566160" cy="4389120"/>
          </a:xfrm>
          <a:prstGeom prst="roundRect">
            <a:avLst/>
          </a:prstGeom>
          <a:solidFill>
            <a:srgbClr val="FFFFFF"/>
          </a:solidFill>
          <a:ln>
            <a:solidFill>
              <a:srgbClr val="D5E0D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640080" y="1554480"/>
            <a:ext cx="109728" cy="4389120"/>
          </a:xfrm>
          <a:prstGeom prst="rect">
            <a:avLst/>
          </a:prstGeom>
          <a:solidFill>
            <a:srgbClr val="2A6F5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914400" y="1719072"/>
            <a:ext cx="3200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1">
                <a:solidFill>
                  <a:srgbClr val="1B4D3E"/>
                </a:solidFill>
                <a:latin typeface="Calibri"/>
              </a:rPr>
              <a:t>Job Postings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868680" y="2057400"/>
            <a:ext cx="3200400" cy="3749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</a:pPr>
            <a:r>
              <a:rPr sz="1300" b="0">
                <a:solidFill>
                  <a:srgbClr val="5A6662"/>
                </a:solidFill>
                <a:latin typeface="Calibri"/>
              </a:rPr>
              <a:t>•  Create open roles</a:t>
            </a:r>
          </a:p>
          <a:p>
            <a:pPr algn="l">
              <a:spcAft>
                <a:spcPts val="600"/>
              </a:spcAft>
            </a:pPr>
            <a:r>
              <a:rPr sz="1300" b="0">
                <a:solidFill>
                  <a:srgbClr val="5A6662"/>
                </a:solidFill>
                <a:latin typeface="Calibri"/>
              </a:rPr>
              <a:t>•  Set department &amp; openings</a:t>
            </a:r>
          </a:p>
          <a:p>
            <a:pPr algn="l">
              <a:spcAft>
                <a:spcPts val="600"/>
              </a:spcAft>
            </a:pPr>
            <a:r>
              <a:rPr sz="1300" b="0">
                <a:solidFill>
                  <a:srgbClr val="5A6662"/>
                </a:solidFill>
                <a:latin typeface="Calibri"/>
              </a:rPr>
              <a:t>•  Track draft / open / closed</a:t>
            </a:r>
          </a:p>
          <a:p>
            <a:pPr algn="l">
              <a:spcAft>
                <a:spcPts val="600"/>
              </a:spcAft>
            </a:pPr>
            <a:r>
              <a:rPr sz="1300" b="0">
                <a:solidFill>
                  <a:srgbClr val="5A6662"/>
                </a:solidFill>
                <a:latin typeface="Calibri"/>
              </a:rPr>
              <a:t>•  Closing dates &amp; requirements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4389120" y="1554480"/>
            <a:ext cx="3566160" cy="4389120"/>
          </a:xfrm>
          <a:prstGeom prst="roundRect">
            <a:avLst/>
          </a:prstGeom>
          <a:solidFill>
            <a:srgbClr val="FFFFFF"/>
          </a:solidFill>
          <a:ln>
            <a:solidFill>
              <a:srgbClr val="D5E0D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4389120" y="1554480"/>
            <a:ext cx="109728" cy="4389120"/>
          </a:xfrm>
          <a:prstGeom prst="rect">
            <a:avLst/>
          </a:prstGeom>
          <a:solidFill>
            <a:srgbClr val="2A6F5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4663440" y="1719072"/>
            <a:ext cx="3200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1">
                <a:solidFill>
                  <a:srgbClr val="1B4D3E"/>
                </a:solidFill>
                <a:latin typeface="Calibri"/>
              </a:rPr>
              <a:t>Applicants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4617720" y="2057400"/>
            <a:ext cx="3200400" cy="3749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</a:pPr>
            <a:r>
              <a:rPr sz="1300" b="0">
                <a:solidFill>
                  <a:srgbClr val="5A6662"/>
                </a:solidFill>
                <a:latin typeface="Calibri"/>
              </a:rPr>
              <a:t>•  Capture candidate details</a:t>
            </a:r>
          </a:p>
          <a:p>
            <a:pPr algn="l">
              <a:spcAft>
                <a:spcPts val="600"/>
              </a:spcAft>
            </a:pPr>
            <a:r>
              <a:rPr sz="1300" b="0">
                <a:solidFill>
                  <a:srgbClr val="5A6662"/>
                </a:solidFill>
                <a:latin typeface="Calibri"/>
              </a:rPr>
              <a:t>•  Link to job posting</a:t>
            </a:r>
          </a:p>
          <a:p>
            <a:pPr algn="l">
              <a:spcAft>
                <a:spcPts val="600"/>
              </a:spcAft>
            </a:pPr>
            <a:r>
              <a:rPr sz="1300" b="0">
                <a:solidFill>
                  <a:srgbClr val="5A6662"/>
                </a:solidFill>
                <a:latin typeface="Calibri"/>
              </a:rPr>
              <a:t>•  AI resume score</a:t>
            </a:r>
          </a:p>
          <a:p>
            <a:pPr algn="l">
              <a:spcAft>
                <a:spcPts val="600"/>
              </a:spcAft>
            </a:pPr>
            <a:r>
              <a:rPr sz="1300" b="0">
                <a:solidFill>
                  <a:srgbClr val="5A6662"/>
                </a:solidFill>
                <a:latin typeface="Calibri"/>
              </a:rPr>
              <a:t>•  Track hiring stage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8138160" y="1554480"/>
            <a:ext cx="3383280" cy="4389120"/>
          </a:xfrm>
          <a:prstGeom prst="roundRect">
            <a:avLst/>
          </a:prstGeom>
          <a:solidFill>
            <a:srgbClr val="FFFFFF"/>
          </a:solidFill>
          <a:ln>
            <a:solidFill>
              <a:srgbClr val="D5E0D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8138160" y="1554480"/>
            <a:ext cx="109728" cy="4389120"/>
          </a:xfrm>
          <a:prstGeom prst="rect">
            <a:avLst/>
          </a:prstGeom>
          <a:solidFill>
            <a:srgbClr val="2A6F5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8412480" y="1719072"/>
            <a:ext cx="30175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1">
                <a:solidFill>
                  <a:srgbClr val="1B4D3E"/>
                </a:solidFill>
                <a:latin typeface="Calibri"/>
              </a:rPr>
              <a:t>Interviews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8366760" y="2057400"/>
            <a:ext cx="3017520" cy="3749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</a:pPr>
            <a:r>
              <a:rPr sz="1300" b="0">
                <a:solidFill>
                  <a:srgbClr val="5A6662"/>
                </a:solidFill>
                <a:latin typeface="Calibri"/>
              </a:rPr>
              <a:t>•  Schedule interviews</a:t>
            </a:r>
          </a:p>
          <a:p>
            <a:pPr algn="l">
              <a:spcAft>
                <a:spcPts val="600"/>
              </a:spcAft>
            </a:pPr>
            <a:r>
              <a:rPr sz="1300" b="0">
                <a:solidFill>
                  <a:srgbClr val="5A6662"/>
                </a:solidFill>
                <a:latin typeface="Calibri"/>
              </a:rPr>
              <a:t>•  Record ratings</a:t>
            </a:r>
          </a:p>
          <a:p>
            <a:pPr algn="l">
              <a:spcAft>
                <a:spcPts val="600"/>
              </a:spcAft>
            </a:pPr>
            <a:r>
              <a:rPr sz="1300" b="0">
                <a:solidFill>
                  <a:srgbClr val="5A6662"/>
                </a:solidFill>
                <a:latin typeface="Calibri"/>
              </a:rPr>
              <a:t>•  Mark completed</a:t>
            </a:r>
          </a:p>
          <a:p>
            <a:pPr algn="l">
              <a:spcAft>
                <a:spcPts val="600"/>
              </a:spcAft>
            </a:pPr>
            <a:r>
              <a:rPr sz="1300" b="0">
                <a:solidFill>
                  <a:srgbClr val="5A6662"/>
                </a:solidFill>
                <a:latin typeface="Calibri"/>
              </a:rPr>
              <a:t>•  Move to offer / hire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5F7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73152"/>
          </a:xfrm>
          <a:prstGeom prst="rect">
            <a:avLst/>
          </a:prstGeom>
          <a:solidFill>
            <a:srgbClr val="1B4D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6784848"/>
            <a:ext cx="12191695" cy="73152"/>
          </a:xfrm>
          <a:prstGeom prst="rect">
            <a:avLst/>
          </a:prstGeom>
          <a:solidFill>
            <a:srgbClr val="1B4D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40080" y="320040"/>
            <a:ext cx="100584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200" b="1">
                <a:solidFill>
                  <a:srgbClr val="1B4D3E"/>
                </a:solidFill>
                <a:latin typeface="Calibri"/>
              </a:rPr>
              <a:t>3. Leave Management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822960"/>
            <a:ext cx="10515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0">
                <a:solidFill>
                  <a:srgbClr val="5A6662"/>
                </a:solidFill>
                <a:latin typeface="Calibri"/>
              </a:rPr>
              <a:t>Apply, approve, and track time off</a:t>
            </a:r>
          </a:p>
        </p:txBody>
      </p:sp>
      <p:sp>
        <p:nvSpPr>
          <p:cNvPr id="7" name="Rectangle 6"/>
          <p:cNvSpPr/>
          <p:nvPr/>
        </p:nvSpPr>
        <p:spPr>
          <a:xfrm>
            <a:off x="640080" y="1234440"/>
            <a:ext cx="1097280" cy="54864"/>
          </a:xfrm>
          <a:prstGeom prst="rect">
            <a:avLst/>
          </a:prstGeom>
          <a:solidFill>
            <a:srgbClr val="C4A35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822960" y="1554480"/>
            <a:ext cx="548640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1200"/>
              </a:spcAft>
            </a:pPr>
            <a:r>
              <a:rPr sz="1900" b="0">
                <a:solidFill>
                  <a:srgbClr val="1A1F1E"/>
                </a:solidFill>
                <a:latin typeface="Calibri"/>
              </a:rPr>
              <a:t>•  Employees submit leave with reason &amp; dates</a:t>
            </a:r>
          </a:p>
          <a:p>
            <a:pPr algn="l">
              <a:spcAft>
                <a:spcPts val="1200"/>
              </a:spcAft>
            </a:pPr>
            <a:r>
              <a:rPr sz="1900" b="0">
                <a:solidFill>
                  <a:srgbClr val="1A1F1E"/>
                </a:solidFill>
                <a:latin typeface="Calibri"/>
              </a:rPr>
              <a:t>•  System checks leave balance before request</a:t>
            </a:r>
          </a:p>
          <a:p>
            <a:pPr algn="l">
              <a:spcAft>
                <a:spcPts val="1200"/>
              </a:spcAft>
            </a:pPr>
            <a:r>
              <a:rPr sz="1900" b="0">
                <a:solidFill>
                  <a:srgbClr val="1A1F1E"/>
                </a:solidFill>
                <a:latin typeface="Calibri"/>
              </a:rPr>
              <a:t>•  Managers / HR approve or reject with notes</a:t>
            </a:r>
          </a:p>
          <a:p>
            <a:pPr algn="l">
              <a:spcAft>
                <a:spcPts val="1200"/>
              </a:spcAft>
            </a:pPr>
            <a:r>
              <a:rPr sz="1900" b="0">
                <a:solidFill>
                  <a:srgbClr val="1A1F1E"/>
                </a:solidFill>
                <a:latin typeface="Calibri"/>
              </a:rPr>
              <a:t>•  Multi-level approval when required</a:t>
            </a:r>
          </a:p>
          <a:p>
            <a:pPr algn="l">
              <a:spcAft>
                <a:spcPts val="1200"/>
              </a:spcAft>
            </a:pPr>
            <a:r>
              <a:rPr sz="1900" b="0">
                <a:solidFill>
                  <a:srgbClr val="1A1F1E"/>
                </a:solidFill>
                <a:latin typeface="Calibri"/>
              </a:rPr>
              <a:t>•  Balances update automatically</a:t>
            </a:r>
          </a:p>
          <a:p>
            <a:pPr algn="l">
              <a:spcAft>
                <a:spcPts val="1200"/>
              </a:spcAft>
            </a:pPr>
            <a:r>
              <a:rPr sz="1900" b="0">
                <a:solidFill>
                  <a:srgbClr val="1A1F1E"/>
                </a:solidFill>
                <a:latin typeface="Calibri"/>
              </a:rPr>
              <a:t>•  AI can summarize pending leave for managers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675120" y="1645920"/>
            <a:ext cx="4754880" cy="4114800"/>
          </a:xfrm>
          <a:prstGeom prst="roundRect">
            <a:avLst/>
          </a:prstGeom>
          <a:solidFill>
            <a:srgbClr val="FFFFFF"/>
          </a:solidFill>
          <a:ln>
            <a:solidFill>
              <a:srgbClr val="D5E0D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6675120" y="1645920"/>
            <a:ext cx="109728" cy="4114800"/>
          </a:xfrm>
          <a:prstGeom prst="rect">
            <a:avLst/>
          </a:prstGeom>
          <a:solidFill>
            <a:srgbClr val="2A6F5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6949440" y="1810512"/>
            <a:ext cx="43891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1">
                <a:solidFill>
                  <a:srgbClr val="1B4D3E"/>
                </a:solidFill>
                <a:latin typeface="Calibri"/>
              </a:rPr>
              <a:t>Simple flow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903720" y="2148840"/>
            <a:ext cx="4389120" cy="34747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</a:pPr>
            <a:r>
              <a:rPr sz="1300" b="0">
                <a:solidFill>
                  <a:srgbClr val="5A6662"/>
                </a:solidFill>
                <a:latin typeface="Calibri"/>
              </a:rPr>
              <a:t>•  1. Employee applies</a:t>
            </a:r>
          </a:p>
          <a:p>
            <a:pPr algn="l">
              <a:spcAft>
                <a:spcPts val="600"/>
              </a:spcAft>
            </a:pPr>
            <a:r>
              <a:rPr sz="1300" b="0">
                <a:solidFill>
                  <a:srgbClr val="5A6662"/>
                </a:solidFill>
                <a:latin typeface="Calibri"/>
              </a:rPr>
              <a:t>•  2. Balance is checked</a:t>
            </a:r>
          </a:p>
          <a:p>
            <a:pPr algn="l">
              <a:spcAft>
                <a:spcPts val="600"/>
              </a:spcAft>
            </a:pPr>
            <a:r>
              <a:rPr sz="1300" b="0">
                <a:solidFill>
                  <a:srgbClr val="5A6662"/>
                </a:solidFill>
                <a:latin typeface="Calibri"/>
              </a:rPr>
              <a:t>•  3. Supervisor reviews</a:t>
            </a:r>
          </a:p>
          <a:p>
            <a:pPr algn="l">
              <a:spcAft>
                <a:spcPts val="600"/>
              </a:spcAft>
            </a:pPr>
            <a:r>
              <a:rPr sz="1300" b="0">
                <a:solidFill>
                  <a:srgbClr val="5A6662"/>
                </a:solidFill>
                <a:latin typeface="Calibri"/>
              </a:rPr>
              <a:t>•  4. Approve or reject</a:t>
            </a:r>
          </a:p>
          <a:p>
            <a:pPr algn="l">
              <a:spcAft>
                <a:spcPts val="600"/>
              </a:spcAft>
            </a:pPr>
            <a:r>
              <a:rPr sz="1300" b="0">
                <a:solidFill>
                  <a:srgbClr val="5A6662"/>
                </a:solidFill>
                <a:latin typeface="Calibri"/>
              </a:rPr>
              <a:t>•  5. Calendar &amp; balance update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5F7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73152"/>
          </a:xfrm>
          <a:prstGeom prst="rect">
            <a:avLst/>
          </a:prstGeom>
          <a:solidFill>
            <a:srgbClr val="1B4D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6784848"/>
            <a:ext cx="12191695" cy="73152"/>
          </a:xfrm>
          <a:prstGeom prst="rect">
            <a:avLst/>
          </a:prstGeom>
          <a:solidFill>
            <a:srgbClr val="1B4D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40080" y="320040"/>
            <a:ext cx="100584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200" b="1">
                <a:solidFill>
                  <a:srgbClr val="1B4D3E"/>
                </a:solidFill>
                <a:latin typeface="Calibri"/>
              </a:rPr>
              <a:t>4. Time &amp; Attendance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822960"/>
            <a:ext cx="10515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0">
                <a:solidFill>
                  <a:srgbClr val="5A6662"/>
                </a:solidFill>
                <a:latin typeface="Calibri"/>
              </a:rPr>
              <a:t>Know who is present, late, or overtime</a:t>
            </a:r>
          </a:p>
        </p:txBody>
      </p:sp>
      <p:sp>
        <p:nvSpPr>
          <p:cNvPr id="7" name="Rectangle 6"/>
          <p:cNvSpPr/>
          <p:nvPr/>
        </p:nvSpPr>
        <p:spPr>
          <a:xfrm>
            <a:off x="640080" y="1234440"/>
            <a:ext cx="1097280" cy="54864"/>
          </a:xfrm>
          <a:prstGeom prst="rect">
            <a:avLst/>
          </a:prstGeom>
          <a:solidFill>
            <a:srgbClr val="C4A35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822960" y="1554480"/>
            <a:ext cx="1051560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1400"/>
              </a:spcAft>
            </a:pPr>
            <a:r>
              <a:rPr sz="2000" b="0">
                <a:solidFill>
                  <a:srgbClr val="1A1F1E"/>
                </a:solidFill>
                <a:latin typeface="Calibri"/>
              </a:rPr>
              <a:t>•  Daily attendance records per employee</a:t>
            </a:r>
          </a:p>
          <a:p>
            <a:pPr algn="l">
              <a:spcAft>
                <a:spcPts val="1400"/>
              </a:spcAft>
            </a:pPr>
            <a:r>
              <a:rPr sz="2000" b="0">
                <a:solidFill>
                  <a:srgbClr val="1A1F1E"/>
                </a:solidFill>
                <a:latin typeface="Calibri"/>
              </a:rPr>
              <a:t>•  Clock-in / clock-out from the portal</a:t>
            </a:r>
          </a:p>
          <a:p>
            <a:pPr algn="l">
              <a:spcAft>
                <a:spcPts val="1400"/>
              </a:spcAft>
            </a:pPr>
            <a:r>
              <a:rPr sz="2000" b="0">
                <a:solidFill>
                  <a:srgbClr val="1A1F1E"/>
                </a:solidFill>
                <a:latin typeface="Calibri"/>
              </a:rPr>
              <a:t>•  Detect late arrivals and calculate overtime hours</a:t>
            </a:r>
          </a:p>
          <a:p>
            <a:pPr algn="l">
              <a:spcAft>
                <a:spcPts val="1400"/>
              </a:spcAft>
            </a:pPr>
            <a:r>
              <a:rPr sz="2000" b="0">
                <a:solidFill>
                  <a:srgbClr val="1A1F1E"/>
                </a:solidFill>
                <a:latin typeface="Calibri"/>
              </a:rPr>
              <a:t>•  Compare against shifts and work schedules</a:t>
            </a:r>
          </a:p>
          <a:p>
            <a:pPr algn="l">
              <a:spcAft>
                <a:spcPts val="1400"/>
              </a:spcAft>
            </a:pPr>
            <a:r>
              <a:rPr sz="2000" b="0">
                <a:solidFill>
                  <a:srgbClr val="1A1F1E"/>
                </a:solidFill>
                <a:latin typeface="Calibri"/>
              </a:rPr>
              <a:t>•  Supports future device sync (biometric / QR / GPS)</a:t>
            </a:r>
          </a:p>
          <a:p>
            <a:pPr algn="l">
              <a:spcAft>
                <a:spcPts val="1400"/>
              </a:spcAft>
            </a:pPr>
            <a:r>
              <a:rPr sz="2000" b="0">
                <a:solidFill>
                  <a:srgbClr val="1A1F1E"/>
                </a:solidFill>
                <a:latin typeface="Calibri"/>
              </a:rPr>
              <a:t>•  Attendance data feeds into payroll calculations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5F7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73152"/>
          </a:xfrm>
          <a:prstGeom prst="rect">
            <a:avLst/>
          </a:prstGeom>
          <a:solidFill>
            <a:srgbClr val="1B4D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6784848"/>
            <a:ext cx="12191695" cy="73152"/>
          </a:xfrm>
          <a:prstGeom prst="rect">
            <a:avLst/>
          </a:prstGeom>
          <a:solidFill>
            <a:srgbClr val="1B4D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40080" y="320040"/>
            <a:ext cx="100584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200" b="1">
                <a:solidFill>
                  <a:srgbClr val="1B4D3E"/>
                </a:solidFill>
                <a:latin typeface="Calibri"/>
              </a:rPr>
              <a:t>5. Payroll &amp; Compliance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822960"/>
            <a:ext cx="10515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0">
                <a:solidFill>
                  <a:srgbClr val="5A6662"/>
                </a:solidFill>
                <a:latin typeface="Calibri"/>
              </a:rPr>
              <a:t>Run payroll with confidence</a:t>
            </a:r>
          </a:p>
        </p:txBody>
      </p:sp>
      <p:sp>
        <p:nvSpPr>
          <p:cNvPr id="7" name="Rectangle 6"/>
          <p:cNvSpPr/>
          <p:nvPr/>
        </p:nvSpPr>
        <p:spPr>
          <a:xfrm>
            <a:off x="640080" y="1234440"/>
            <a:ext cx="1097280" cy="54864"/>
          </a:xfrm>
          <a:prstGeom prst="rect">
            <a:avLst/>
          </a:prstGeom>
          <a:solidFill>
            <a:srgbClr val="C4A35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ounded Rectangle 7"/>
          <p:cNvSpPr/>
          <p:nvPr/>
        </p:nvSpPr>
        <p:spPr>
          <a:xfrm>
            <a:off x="640080" y="1554480"/>
            <a:ext cx="3566160" cy="4389120"/>
          </a:xfrm>
          <a:prstGeom prst="roundRect">
            <a:avLst/>
          </a:prstGeom>
          <a:solidFill>
            <a:srgbClr val="FFFFFF"/>
          </a:solidFill>
          <a:ln>
            <a:solidFill>
              <a:srgbClr val="D5E0D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640080" y="1554480"/>
            <a:ext cx="109728" cy="4389120"/>
          </a:xfrm>
          <a:prstGeom prst="rect">
            <a:avLst/>
          </a:prstGeom>
          <a:solidFill>
            <a:srgbClr val="2A6F5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914400" y="1719072"/>
            <a:ext cx="3200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1">
                <a:solidFill>
                  <a:srgbClr val="1B4D3E"/>
                </a:solidFill>
                <a:latin typeface="Calibri"/>
              </a:rPr>
              <a:t>Payroll Runs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868680" y="2057400"/>
            <a:ext cx="3200400" cy="3749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</a:pPr>
            <a:r>
              <a:rPr sz="1300" b="0">
                <a:solidFill>
                  <a:srgbClr val="5A6662"/>
                </a:solidFill>
                <a:latin typeface="Calibri"/>
              </a:rPr>
              <a:t>•  Create pay periods</a:t>
            </a:r>
          </a:p>
          <a:p>
            <a:pPr algn="l">
              <a:spcAft>
                <a:spcPts val="600"/>
              </a:spcAft>
            </a:pPr>
            <a:r>
              <a:rPr sz="1300" b="0">
                <a:solidFill>
                  <a:srgbClr val="5A6662"/>
                </a:solidFill>
                <a:latin typeface="Calibri"/>
              </a:rPr>
              <a:t>•  Process employee pay</a:t>
            </a:r>
          </a:p>
          <a:p>
            <a:pPr algn="l">
              <a:spcAft>
                <a:spcPts val="600"/>
              </a:spcAft>
            </a:pPr>
            <a:r>
              <a:rPr sz="1300" b="0">
                <a:solidFill>
                  <a:srgbClr val="5A6662"/>
                </a:solidFill>
                <a:latin typeface="Calibri"/>
              </a:rPr>
              <a:t>•  Gross → deductions → net</a:t>
            </a:r>
          </a:p>
          <a:p>
            <a:pPr algn="l">
              <a:spcAft>
                <a:spcPts val="600"/>
              </a:spcAft>
            </a:pPr>
            <a:r>
              <a:rPr sz="1300" b="0">
                <a:solidFill>
                  <a:srgbClr val="5A6662"/>
                </a:solidFill>
                <a:latin typeface="Calibri"/>
              </a:rPr>
              <a:t>•  Review and approve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4389120" y="1554480"/>
            <a:ext cx="3566160" cy="4389120"/>
          </a:xfrm>
          <a:prstGeom prst="roundRect">
            <a:avLst/>
          </a:prstGeom>
          <a:solidFill>
            <a:srgbClr val="FFFFFF"/>
          </a:solidFill>
          <a:ln>
            <a:solidFill>
              <a:srgbClr val="D5E0D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4389120" y="1554480"/>
            <a:ext cx="109728" cy="4389120"/>
          </a:xfrm>
          <a:prstGeom prst="rect">
            <a:avLst/>
          </a:prstGeom>
          <a:solidFill>
            <a:srgbClr val="2A6F5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4663440" y="1719072"/>
            <a:ext cx="3200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1">
                <a:solidFill>
                  <a:srgbClr val="1B4D3E"/>
                </a:solidFill>
                <a:latin typeface="Calibri"/>
              </a:rPr>
              <a:t>Payslips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4617720" y="2057400"/>
            <a:ext cx="3200400" cy="3749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</a:pPr>
            <a:r>
              <a:rPr sz="1300" b="0">
                <a:solidFill>
                  <a:srgbClr val="5A6662"/>
                </a:solidFill>
                <a:latin typeface="Calibri"/>
              </a:rPr>
              <a:t>•  Per-employee payslips</a:t>
            </a:r>
          </a:p>
          <a:p>
            <a:pPr algn="l">
              <a:spcAft>
                <a:spcPts val="600"/>
              </a:spcAft>
            </a:pPr>
            <a:r>
              <a:rPr sz="1300" b="0">
                <a:solidFill>
                  <a:srgbClr val="5A6662"/>
                </a:solidFill>
                <a:latin typeface="Calibri"/>
              </a:rPr>
              <a:t>•  Gross and net amounts</a:t>
            </a:r>
          </a:p>
          <a:p>
            <a:pPr algn="l">
              <a:spcAft>
                <a:spcPts val="600"/>
              </a:spcAft>
            </a:pPr>
            <a:r>
              <a:rPr sz="1300" b="0">
                <a:solidFill>
                  <a:srgbClr val="5A6662"/>
                </a:solidFill>
                <a:latin typeface="Calibri"/>
              </a:rPr>
              <a:t>•  AI anomaly flags</a:t>
            </a:r>
          </a:p>
          <a:p>
            <a:pPr algn="l">
              <a:spcAft>
                <a:spcPts val="600"/>
              </a:spcAft>
            </a:pPr>
            <a:r>
              <a:rPr sz="1300" b="0">
                <a:solidFill>
                  <a:srgbClr val="5A6662"/>
                </a:solidFill>
                <a:latin typeface="Calibri"/>
              </a:rPr>
              <a:t>•  Ready for download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8138160" y="1554480"/>
            <a:ext cx="3383280" cy="4389120"/>
          </a:xfrm>
          <a:prstGeom prst="roundRect">
            <a:avLst/>
          </a:prstGeom>
          <a:solidFill>
            <a:srgbClr val="FFFFFF"/>
          </a:solidFill>
          <a:ln>
            <a:solidFill>
              <a:srgbClr val="D5E0D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8138160" y="1554480"/>
            <a:ext cx="109728" cy="4389120"/>
          </a:xfrm>
          <a:prstGeom prst="rect">
            <a:avLst/>
          </a:prstGeom>
          <a:solidFill>
            <a:srgbClr val="2A6F5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8412480" y="1719072"/>
            <a:ext cx="30175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1">
                <a:solidFill>
                  <a:srgbClr val="1B4D3E"/>
                </a:solidFill>
                <a:latin typeface="Calibri"/>
              </a:rPr>
              <a:t>Loans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8366760" y="2057400"/>
            <a:ext cx="3017520" cy="3749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</a:pPr>
            <a:r>
              <a:rPr sz="1300" b="0">
                <a:solidFill>
                  <a:srgbClr val="5A6662"/>
                </a:solidFill>
                <a:latin typeface="Calibri"/>
              </a:rPr>
              <a:t>•  Staff loan records</a:t>
            </a:r>
          </a:p>
          <a:p>
            <a:pPr algn="l">
              <a:spcAft>
                <a:spcPts val="600"/>
              </a:spcAft>
            </a:pPr>
            <a:r>
              <a:rPr sz="1300" b="0">
                <a:solidFill>
                  <a:srgbClr val="5A6662"/>
                </a:solidFill>
                <a:latin typeface="Calibri"/>
              </a:rPr>
              <a:t>•  Monthly installments</a:t>
            </a:r>
          </a:p>
          <a:p>
            <a:pPr algn="l">
              <a:spcAft>
                <a:spcPts val="600"/>
              </a:spcAft>
            </a:pPr>
            <a:r>
              <a:rPr sz="1300" b="0">
                <a:solidFill>
                  <a:srgbClr val="5A6662"/>
                </a:solidFill>
                <a:latin typeface="Calibri"/>
              </a:rPr>
              <a:t>•  Status tracking</a:t>
            </a:r>
          </a:p>
          <a:p>
            <a:pPr algn="l">
              <a:spcAft>
                <a:spcPts val="600"/>
              </a:spcAft>
            </a:pPr>
            <a:r>
              <a:rPr sz="1300" b="0">
                <a:solidFill>
                  <a:srgbClr val="5A6662"/>
                </a:solidFill>
                <a:latin typeface="Calibri"/>
              </a:rPr>
              <a:t>•  Auto payroll deduction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5F7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73152"/>
          </a:xfrm>
          <a:prstGeom prst="rect">
            <a:avLst/>
          </a:prstGeom>
          <a:solidFill>
            <a:srgbClr val="1B4D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6784848"/>
            <a:ext cx="12191695" cy="73152"/>
          </a:xfrm>
          <a:prstGeom prst="rect">
            <a:avLst/>
          </a:prstGeom>
          <a:solidFill>
            <a:srgbClr val="1B4D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40080" y="320040"/>
            <a:ext cx="100584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200" b="1">
                <a:solidFill>
                  <a:srgbClr val="1B4D3E"/>
                </a:solidFill>
                <a:latin typeface="Calibri"/>
              </a:rPr>
              <a:t>6. Performance Management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822960"/>
            <a:ext cx="10515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0">
                <a:solidFill>
                  <a:srgbClr val="5A6662"/>
                </a:solidFill>
                <a:latin typeface="Calibri"/>
              </a:rPr>
              <a:t>Goals, reviews, and growth</a:t>
            </a:r>
          </a:p>
        </p:txBody>
      </p:sp>
      <p:sp>
        <p:nvSpPr>
          <p:cNvPr id="7" name="Rectangle 6"/>
          <p:cNvSpPr/>
          <p:nvPr/>
        </p:nvSpPr>
        <p:spPr>
          <a:xfrm>
            <a:off x="640080" y="1234440"/>
            <a:ext cx="1097280" cy="54864"/>
          </a:xfrm>
          <a:prstGeom prst="rect">
            <a:avLst/>
          </a:prstGeom>
          <a:solidFill>
            <a:srgbClr val="C4A35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822960" y="1554480"/>
            <a:ext cx="1051560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1600"/>
              </a:spcAft>
            </a:pPr>
            <a:r>
              <a:rPr sz="2000" b="0">
                <a:solidFill>
                  <a:srgbClr val="1A1F1E"/>
                </a:solidFill>
                <a:latin typeface="Calibri"/>
              </a:rPr>
              <a:t>•  Assign tasks and goals with due dates and points</a:t>
            </a:r>
          </a:p>
          <a:p>
            <a:pPr algn="l">
              <a:spcAft>
                <a:spcPts val="1600"/>
              </a:spcAft>
            </a:pPr>
            <a:r>
              <a:rPr sz="2000" b="0">
                <a:solidFill>
                  <a:srgbClr val="1A1F1E"/>
                </a:solidFill>
                <a:latin typeface="Calibri"/>
              </a:rPr>
              <a:t>•  Track progress and completion status</a:t>
            </a:r>
          </a:p>
          <a:p>
            <a:pPr algn="l">
              <a:spcAft>
                <a:spcPts val="1600"/>
              </a:spcAft>
            </a:pPr>
            <a:r>
              <a:rPr sz="2000" b="0">
                <a:solidFill>
                  <a:srgbClr val="1A1F1E"/>
                </a:solidFill>
                <a:latin typeface="Calibri"/>
              </a:rPr>
              <a:t>•  Support review cycles: self-assessment → manager review</a:t>
            </a:r>
          </a:p>
          <a:p>
            <a:pPr algn="l">
              <a:spcAft>
                <a:spcPts val="1600"/>
              </a:spcAft>
            </a:pPr>
            <a:r>
              <a:rPr sz="2000" b="0">
                <a:solidFill>
                  <a:srgbClr val="1A1F1E"/>
                </a:solidFill>
                <a:latin typeface="Calibri"/>
              </a:rPr>
              <a:t>•  Capture ratings and feedback over time</a:t>
            </a:r>
          </a:p>
          <a:p>
            <a:pPr algn="l">
              <a:spcAft>
                <a:spcPts val="1600"/>
              </a:spcAft>
            </a:pPr>
            <a:r>
              <a:rPr sz="2000" b="0">
                <a:solidFill>
                  <a:srgbClr val="1A1F1E"/>
                </a:solidFill>
                <a:latin typeface="Calibri"/>
              </a:rPr>
              <a:t>•  Helps managers coach teams with clear targets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5F7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73152"/>
          </a:xfrm>
          <a:prstGeom prst="rect">
            <a:avLst/>
          </a:prstGeom>
          <a:solidFill>
            <a:srgbClr val="1B4D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6784848"/>
            <a:ext cx="12191695" cy="73152"/>
          </a:xfrm>
          <a:prstGeom prst="rect">
            <a:avLst/>
          </a:prstGeom>
          <a:solidFill>
            <a:srgbClr val="1B4D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40080" y="320040"/>
            <a:ext cx="100584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200" b="1">
                <a:solidFill>
                  <a:srgbClr val="1B4D3E"/>
                </a:solidFill>
                <a:latin typeface="Calibri"/>
              </a:rPr>
              <a:t>7. Relations &amp; Disciplinary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822960"/>
            <a:ext cx="10515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0">
                <a:solidFill>
                  <a:srgbClr val="5A6662"/>
                </a:solidFill>
                <a:latin typeface="Calibri"/>
              </a:rPr>
              <a:t>Recognize good work and handle issues fairly</a:t>
            </a:r>
          </a:p>
        </p:txBody>
      </p:sp>
      <p:sp>
        <p:nvSpPr>
          <p:cNvPr id="7" name="Rectangle 6"/>
          <p:cNvSpPr/>
          <p:nvPr/>
        </p:nvSpPr>
        <p:spPr>
          <a:xfrm>
            <a:off x="640080" y="1234440"/>
            <a:ext cx="1097280" cy="54864"/>
          </a:xfrm>
          <a:prstGeom prst="rect">
            <a:avLst/>
          </a:prstGeom>
          <a:solidFill>
            <a:srgbClr val="C4A35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ounded Rectangle 7"/>
          <p:cNvSpPr/>
          <p:nvPr/>
        </p:nvSpPr>
        <p:spPr>
          <a:xfrm>
            <a:off x="640080" y="1554480"/>
            <a:ext cx="5303520" cy="4389120"/>
          </a:xfrm>
          <a:prstGeom prst="roundRect">
            <a:avLst/>
          </a:prstGeom>
          <a:solidFill>
            <a:srgbClr val="FFFFFF"/>
          </a:solidFill>
          <a:ln>
            <a:solidFill>
              <a:srgbClr val="D5E0D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640080" y="1554480"/>
            <a:ext cx="109728" cy="4389120"/>
          </a:xfrm>
          <a:prstGeom prst="rect">
            <a:avLst/>
          </a:prstGeom>
          <a:solidFill>
            <a:srgbClr val="2A6F5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914400" y="1719072"/>
            <a:ext cx="49377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1">
                <a:solidFill>
                  <a:srgbClr val="1B4D3E"/>
                </a:solidFill>
                <a:latin typeface="Calibri"/>
              </a:rPr>
              <a:t>Employee Relations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868680" y="2057400"/>
            <a:ext cx="4937760" cy="3749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</a:pPr>
            <a:r>
              <a:rPr sz="1300" b="0">
                <a:solidFill>
                  <a:srgbClr val="5A6662"/>
                </a:solidFill>
                <a:latin typeface="Calibri"/>
              </a:rPr>
              <a:t>•  Record awards and recognition</a:t>
            </a:r>
          </a:p>
          <a:p>
            <a:pPr algn="l">
              <a:spcAft>
                <a:spcPts val="600"/>
              </a:spcAft>
            </a:pPr>
            <a:r>
              <a:rPr sz="1300" b="0">
                <a:solidFill>
                  <a:srgbClr val="5A6662"/>
                </a:solidFill>
                <a:latin typeface="Calibri"/>
              </a:rPr>
              <a:t>•  Track employee relations cases</a:t>
            </a:r>
          </a:p>
          <a:p>
            <a:pPr algn="l">
              <a:spcAft>
                <a:spcPts val="600"/>
              </a:spcAft>
            </a:pPr>
            <a:r>
              <a:rPr sz="1300" b="0">
                <a:solidFill>
                  <a:srgbClr val="5A6662"/>
                </a:solidFill>
                <a:latin typeface="Calibri"/>
              </a:rPr>
              <a:t>•  Build a positive workplace culture</a:t>
            </a:r>
          </a:p>
          <a:p>
            <a:pPr algn="l">
              <a:spcAft>
                <a:spcPts val="600"/>
              </a:spcAft>
            </a:pPr>
            <a:r>
              <a:rPr sz="1300" b="0">
                <a:solidFill>
                  <a:srgbClr val="5A6662"/>
                </a:solidFill>
                <a:latin typeface="Calibri"/>
              </a:rPr>
              <a:t>•  Keep history linked to the employee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6217920" y="1554480"/>
            <a:ext cx="5303520" cy="4389120"/>
          </a:xfrm>
          <a:prstGeom prst="roundRect">
            <a:avLst/>
          </a:prstGeom>
          <a:solidFill>
            <a:srgbClr val="FFFFFF"/>
          </a:solidFill>
          <a:ln>
            <a:solidFill>
              <a:srgbClr val="D5E0D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6217920" y="1554480"/>
            <a:ext cx="109728" cy="4389120"/>
          </a:xfrm>
          <a:prstGeom prst="rect">
            <a:avLst/>
          </a:prstGeom>
          <a:solidFill>
            <a:srgbClr val="2A6F5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6492240" y="1719072"/>
            <a:ext cx="49377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1">
                <a:solidFill>
                  <a:srgbClr val="1B4D3E"/>
                </a:solidFill>
                <a:latin typeface="Calibri"/>
              </a:rPr>
              <a:t>Disciplinary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446520" y="2057400"/>
            <a:ext cx="4937760" cy="3749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</a:pPr>
            <a:r>
              <a:rPr sz="1300" b="0">
                <a:solidFill>
                  <a:srgbClr val="5A6662"/>
                </a:solidFill>
                <a:latin typeface="Calibri"/>
              </a:rPr>
              <a:t>•  Log incidents and investigations</a:t>
            </a:r>
          </a:p>
          <a:p>
            <a:pPr algn="l">
              <a:spcAft>
                <a:spcPts val="600"/>
              </a:spcAft>
            </a:pPr>
            <a:r>
              <a:rPr sz="1300" b="0">
                <a:solidFill>
                  <a:srgbClr val="5A6662"/>
                </a:solidFill>
                <a:latin typeface="Calibri"/>
              </a:rPr>
              <a:t>•  Warnings, hearings, outcomes</a:t>
            </a:r>
          </a:p>
          <a:p>
            <a:pPr algn="l">
              <a:spcAft>
                <a:spcPts val="600"/>
              </a:spcAft>
            </a:pPr>
            <a:r>
              <a:rPr sz="1300" b="0">
                <a:solidFill>
                  <a:srgbClr val="5A6662"/>
                </a:solidFill>
                <a:latin typeface="Calibri"/>
              </a:rPr>
              <a:t>•  Clear severity-based process</a:t>
            </a:r>
          </a:p>
          <a:p>
            <a:pPr algn="l">
              <a:spcAft>
                <a:spcPts val="600"/>
              </a:spcAft>
            </a:pPr>
            <a:r>
              <a:rPr sz="1300" b="0">
                <a:solidFill>
                  <a:srgbClr val="5A6662"/>
                </a:solidFill>
                <a:latin typeface="Calibri"/>
              </a:rPr>
              <a:t>•  Protects both company and staff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5F7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73152"/>
          </a:xfrm>
          <a:prstGeom prst="rect">
            <a:avLst/>
          </a:prstGeom>
          <a:solidFill>
            <a:srgbClr val="1B4D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6784848"/>
            <a:ext cx="12191695" cy="73152"/>
          </a:xfrm>
          <a:prstGeom prst="rect">
            <a:avLst/>
          </a:prstGeom>
          <a:solidFill>
            <a:srgbClr val="1B4D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40080" y="320040"/>
            <a:ext cx="100584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200" b="1">
                <a:solidFill>
                  <a:srgbClr val="1B4D3E"/>
                </a:solidFill>
                <a:latin typeface="Calibri"/>
              </a:rPr>
              <a:t>8. Casuals &amp; Surveys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822960"/>
            <a:ext cx="10515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0">
                <a:solidFill>
                  <a:srgbClr val="5A6662"/>
                </a:solidFill>
                <a:latin typeface="Calibri"/>
              </a:rPr>
              <a:t>Flexible workers and honest feedback</a:t>
            </a:r>
          </a:p>
        </p:txBody>
      </p:sp>
      <p:sp>
        <p:nvSpPr>
          <p:cNvPr id="7" name="Rectangle 6"/>
          <p:cNvSpPr/>
          <p:nvPr/>
        </p:nvSpPr>
        <p:spPr>
          <a:xfrm>
            <a:off x="640080" y="1234440"/>
            <a:ext cx="1097280" cy="54864"/>
          </a:xfrm>
          <a:prstGeom prst="rect">
            <a:avLst/>
          </a:prstGeom>
          <a:solidFill>
            <a:srgbClr val="C4A35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ounded Rectangle 7"/>
          <p:cNvSpPr/>
          <p:nvPr/>
        </p:nvSpPr>
        <p:spPr>
          <a:xfrm>
            <a:off x="640080" y="1554480"/>
            <a:ext cx="5303520" cy="4389120"/>
          </a:xfrm>
          <a:prstGeom prst="roundRect">
            <a:avLst/>
          </a:prstGeom>
          <a:solidFill>
            <a:srgbClr val="FFFFFF"/>
          </a:solidFill>
          <a:ln>
            <a:solidFill>
              <a:srgbClr val="D5E0D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640080" y="1554480"/>
            <a:ext cx="109728" cy="4389120"/>
          </a:xfrm>
          <a:prstGeom prst="rect">
            <a:avLst/>
          </a:prstGeom>
          <a:solidFill>
            <a:srgbClr val="2A6F5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914400" y="1719072"/>
            <a:ext cx="49377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1">
                <a:solidFill>
                  <a:srgbClr val="1B4D3E"/>
                </a:solidFill>
                <a:latin typeface="Calibri"/>
              </a:rPr>
              <a:t>Casuals Management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868680" y="2057400"/>
            <a:ext cx="4937760" cy="3749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</a:pPr>
            <a:r>
              <a:rPr sz="1300" b="0">
                <a:solidFill>
                  <a:srgbClr val="5A6662"/>
                </a:solidFill>
                <a:latin typeface="Calibri"/>
              </a:rPr>
              <a:t>•  Manage temporary / casual workers</a:t>
            </a:r>
          </a:p>
          <a:p>
            <a:pPr algn="l">
              <a:spcAft>
                <a:spcPts val="600"/>
              </a:spcAft>
            </a:pPr>
            <a:r>
              <a:rPr sz="1300" b="0">
                <a:solidFill>
                  <a:srgbClr val="5A6662"/>
                </a:solidFill>
                <a:latin typeface="Calibri"/>
              </a:rPr>
              <a:t>•  Separate from permanent payroll staff</a:t>
            </a:r>
          </a:p>
          <a:p>
            <a:pPr algn="l">
              <a:spcAft>
                <a:spcPts val="600"/>
              </a:spcAft>
            </a:pPr>
            <a:r>
              <a:rPr sz="1300" b="0">
                <a:solidFill>
                  <a:srgbClr val="5A6662"/>
                </a:solidFill>
                <a:latin typeface="Calibri"/>
              </a:rPr>
              <a:t>•  Supervisor oversight for casual teams</a:t>
            </a:r>
          </a:p>
          <a:p>
            <a:pPr algn="l">
              <a:spcAft>
                <a:spcPts val="600"/>
              </a:spcAft>
            </a:pPr>
            <a:r>
              <a:rPr sz="1300" b="0">
                <a:solidFill>
                  <a:srgbClr val="5A6662"/>
                </a:solidFill>
                <a:latin typeface="Calibri"/>
              </a:rPr>
              <a:t>•  Useful for seasonal or project work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6217920" y="1554480"/>
            <a:ext cx="5303520" cy="4389120"/>
          </a:xfrm>
          <a:prstGeom prst="roundRect">
            <a:avLst/>
          </a:prstGeom>
          <a:solidFill>
            <a:srgbClr val="FFFFFF"/>
          </a:solidFill>
          <a:ln>
            <a:solidFill>
              <a:srgbClr val="D5E0D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6217920" y="1554480"/>
            <a:ext cx="109728" cy="4389120"/>
          </a:xfrm>
          <a:prstGeom prst="rect">
            <a:avLst/>
          </a:prstGeom>
          <a:solidFill>
            <a:srgbClr val="2A6F5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6492240" y="1719072"/>
            <a:ext cx="49377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1">
                <a:solidFill>
                  <a:srgbClr val="1B4D3E"/>
                </a:solidFill>
                <a:latin typeface="Calibri"/>
              </a:rPr>
              <a:t>Feedback &amp; Surveys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446520" y="2057400"/>
            <a:ext cx="4937760" cy="3749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</a:pPr>
            <a:r>
              <a:rPr sz="1300" b="0">
                <a:solidFill>
                  <a:srgbClr val="5A6662"/>
                </a:solidFill>
                <a:latin typeface="Calibri"/>
              </a:rPr>
              <a:t>•  Create company surveys</a:t>
            </a:r>
          </a:p>
          <a:p>
            <a:pPr algn="l">
              <a:spcAft>
                <a:spcPts val="600"/>
              </a:spcAft>
            </a:pPr>
            <a:r>
              <a:rPr sz="1300" b="0">
                <a:solidFill>
                  <a:srgbClr val="5A6662"/>
                </a:solidFill>
                <a:latin typeface="Calibri"/>
              </a:rPr>
              <a:t>•  Anonymous options for honesty</a:t>
            </a:r>
          </a:p>
          <a:p>
            <a:pPr algn="l">
              <a:spcAft>
                <a:spcPts val="600"/>
              </a:spcAft>
            </a:pPr>
            <a:r>
              <a:rPr sz="1300" b="0">
                <a:solidFill>
                  <a:srgbClr val="5A6662"/>
                </a:solidFill>
                <a:latin typeface="Calibri"/>
              </a:rPr>
              <a:t>•  Set start and end dates</a:t>
            </a:r>
          </a:p>
          <a:p>
            <a:pPr algn="l">
              <a:spcAft>
                <a:spcPts val="600"/>
              </a:spcAft>
            </a:pPr>
            <a:r>
              <a:rPr sz="1300" b="0">
                <a:solidFill>
                  <a:srgbClr val="5A6662"/>
                </a:solidFill>
                <a:latin typeface="Calibri"/>
              </a:rPr>
              <a:t>•  Collect staff sentiment easily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5F7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73152"/>
          </a:xfrm>
          <a:prstGeom prst="rect">
            <a:avLst/>
          </a:prstGeom>
          <a:solidFill>
            <a:srgbClr val="1B4D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6784848"/>
            <a:ext cx="12191695" cy="73152"/>
          </a:xfrm>
          <a:prstGeom prst="rect">
            <a:avLst/>
          </a:prstGeom>
          <a:solidFill>
            <a:srgbClr val="1B4D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40080" y="320040"/>
            <a:ext cx="100584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200" b="1">
                <a:solidFill>
                  <a:srgbClr val="1B4D3E"/>
                </a:solidFill>
                <a:latin typeface="Calibri"/>
              </a:rPr>
              <a:t>9. AI Features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822960"/>
            <a:ext cx="10515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0">
                <a:solidFill>
                  <a:srgbClr val="5A6662"/>
                </a:solidFill>
                <a:latin typeface="Calibri"/>
              </a:rPr>
              <a:t>Smart helpers that save HR and managers time</a:t>
            </a:r>
          </a:p>
        </p:txBody>
      </p:sp>
      <p:sp>
        <p:nvSpPr>
          <p:cNvPr id="7" name="Rectangle 6"/>
          <p:cNvSpPr/>
          <p:nvPr/>
        </p:nvSpPr>
        <p:spPr>
          <a:xfrm>
            <a:off x="640080" y="1234440"/>
            <a:ext cx="1097280" cy="54864"/>
          </a:xfrm>
          <a:prstGeom prst="rect">
            <a:avLst/>
          </a:prstGeom>
          <a:solidFill>
            <a:srgbClr val="C4A35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822960" y="1554480"/>
            <a:ext cx="1051560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1400"/>
              </a:spcAft>
            </a:pPr>
            <a:r>
              <a:rPr sz="2000" b="0">
                <a:solidFill>
                  <a:srgbClr val="1A1F1E"/>
                </a:solidFill>
                <a:latin typeface="Calibri"/>
              </a:rPr>
              <a:t>•  Resume screening &amp; candidate scoring in recruitment</a:t>
            </a:r>
          </a:p>
          <a:p>
            <a:pPr algn="l">
              <a:spcAft>
                <a:spcPts val="1400"/>
              </a:spcAft>
            </a:pPr>
            <a:r>
              <a:rPr sz="2000" b="0">
                <a:solidFill>
                  <a:srgbClr val="1A1F1E"/>
                </a:solidFill>
                <a:latin typeface="Calibri"/>
              </a:rPr>
              <a:t>•  Payroll anomaly detection (unusual payslips flagged)</a:t>
            </a:r>
          </a:p>
          <a:p>
            <a:pPr algn="l">
              <a:spcAft>
                <a:spcPts val="1400"/>
              </a:spcAft>
            </a:pPr>
            <a:r>
              <a:rPr sz="2000" b="0">
                <a:solidFill>
                  <a:srgbClr val="1A1F1E"/>
                </a:solidFill>
                <a:latin typeface="Calibri"/>
              </a:rPr>
              <a:t>•  Attendance anomaly checks</a:t>
            </a:r>
          </a:p>
          <a:p>
            <a:pPr algn="l">
              <a:spcAft>
                <a:spcPts val="1400"/>
              </a:spcAft>
            </a:pPr>
            <a:r>
              <a:rPr sz="2000" b="0">
                <a:solidFill>
                  <a:srgbClr val="1A1F1E"/>
                </a:solidFill>
                <a:latin typeface="Calibri"/>
              </a:rPr>
              <a:t>•  Leave duty assistant: summarize pending leave</a:t>
            </a:r>
          </a:p>
          <a:p>
            <a:pPr algn="l">
              <a:spcAft>
                <a:spcPts val="1400"/>
              </a:spcAft>
            </a:pPr>
            <a:r>
              <a:rPr sz="2000" b="0">
                <a:solidFill>
                  <a:srgbClr val="1A1F1E"/>
                </a:solidFill>
                <a:latin typeface="Calibri"/>
              </a:rPr>
              <a:t>•  Draft approve / reject notes for managers</a:t>
            </a:r>
          </a:p>
          <a:p>
            <a:pPr algn="l">
              <a:spcAft>
                <a:spcPts val="1400"/>
              </a:spcAft>
            </a:pPr>
            <a:r>
              <a:rPr sz="2000" b="0">
                <a:solidFill>
                  <a:srgbClr val="1A1F1E"/>
                </a:solidFill>
                <a:latin typeface="Calibri"/>
              </a:rPr>
              <a:t>•  AI chat insights scoped safely to your company only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5F7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73152"/>
          </a:xfrm>
          <a:prstGeom prst="rect">
            <a:avLst/>
          </a:prstGeom>
          <a:solidFill>
            <a:srgbClr val="1B4D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6784848"/>
            <a:ext cx="12191695" cy="73152"/>
          </a:xfrm>
          <a:prstGeom prst="rect">
            <a:avLst/>
          </a:prstGeom>
          <a:solidFill>
            <a:srgbClr val="1B4D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40080" y="320040"/>
            <a:ext cx="100584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200" b="1">
                <a:solidFill>
                  <a:srgbClr val="1B4D3E"/>
                </a:solidFill>
                <a:latin typeface="Calibri"/>
              </a:rPr>
              <a:t>10. Reports &amp; Integrations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822960"/>
            <a:ext cx="10515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0">
                <a:solidFill>
                  <a:srgbClr val="5A6662"/>
                </a:solidFill>
                <a:latin typeface="Calibri"/>
              </a:rPr>
              <a:t>See the big picture and connect systems</a:t>
            </a:r>
          </a:p>
        </p:txBody>
      </p:sp>
      <p:sp>
        <p:nvSpPr>
          <p:cNvPr id="7" name="Rectangle 6"/>
          <p:cNvSpPr/>
          <p:nvPr/>
        </p:nvSpPr>
        <p:spPr>
          <a:xfrm>
            <a:off x="640080" y="1234440"/>
            <a:ext cx="1097280" cy="54864"/>
          </a:xfrm>
          <a:prstGeom prst="rect">
            <a:avLst/>
          </a:prstGeom>
          <a:solidFill>
            <a:srgbClr val="C4A35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ounded Rectangle 7"/>
          <p:cNvSpPr/>
          <p:nvPr/>
        </p:nvSpPr>
        <p:spPr>
          <a:xfrm>
            <a:off x="640080" y="1554480"/>
            <a:ext cx="5303520" cy="4389120"/>
          </a:xfrm>
          <a:prstGeom prst="roundRect">
            <a:avLst/>
          </a:prstGeom>
          <a:solidFill>
            <a:srgbClr val="FFFFFF"/>
          </a:solidFill>
          <a:ln>
            <a:solidFill>
              <a:srgbClr val="D5E0D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640080" y="1554480"/>
            <a:ext cx="109728" cy="4389120"/>
          </a:xfrm>
          <a:prstGeom prst="rect">
            <a:avLst/>
          </a:prstGeom>
          <a:solidFill>
            <a:srgbClr val="2A6F5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914400" y="1719072"/>
            <a:ext cx="49377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1">
                <a:solidFill>
                  <a:srgbClr val="1B4D3E"/>
                </a:solidFill>
                <a:latin typeface="Calibri"/>
              </a:rPr>
              <a:t>Reports &amp; Insights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868680" y="2057400"/>
            <a:ext cx="4937760" cy="3749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</a:pPr>
            <a:r>
              <a:rPr sz="1300" b="0">
                <a:solidFill>
                  <a:srgbClr val="5A6662"/>
                </a:solidFill>
                <a:latin typeface="Calibri"/>
              </a:rPr>
              <a:t>•  Dashboard overview of key HR metrics</a:t>
            </a:r>
          </a:p>
          <a:p>
            <a:pPr algn="l">
              <a:spcAft>
                <a:spcPts val="600"/>
              </a:spcAft>
            </a:pPr>
            <a:r>
              <a:rPr sz="1300" b="0">
                <a:solidFill>
                  <a:srgbClr val="5A6662"/>
                </a:solidFill>
                <a:latin typeface="Calibri"/>
              </a:rPr>
              <a:t>•  Module reports for leave, payroll, people</a:t>
            </a:r>
          </a:p>
          <a:p>
            <a:pPr algn="l">
              <a:spcAft>
                <a:spcPts val="600"/>
              </a:spcAft>
            </a:pPr>
            <a:r>
              <a:rPr sz="1300" b="0">
                <a:solidFill>
                  <a:srgbClr val="5A6662"/>
                </a:solidFill>
                <a:latin typeface="Calibri"/>
              </a:rPr>
              <a:t>•  Export-ready operational visibility</a:t>
            </a:r>
          </a:p>
          <a:p>
            <a:pPr algn="l">
              <a:spcAft>
                <a:spcPts val="600"/>
              </a:spcAft>
            </a:pPr>
            <a:r>
              <a:rPr sz="1300" b="0">
                <a:solidFill>
                  <a:srgbClr val="5A6662"/>
                </a:solidFill>
                <a:latin typeface="Calibri"/>
              </a:rPr>
              <a:t>•  Helps leaders make faster decisions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6217920" y="1554480"/>
            <a:ext cx="5303520" cy="4389120"/>
          </a:xfrm>
          <a:prstGeom prst="roundRect">
            <a:avLst/>
          </a:prstGeom>
          <a:solidFill>
            <a:srgbClr val="FFFFFF"/>
          </a:solidFill>
          <a:ln>
            <a:solidFill>
              <a:srgbClr val="D5E0D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6217920" y="1554480"/>
            <a:ext cx="109728" cy="4389120"/>
          </a:xfrm>
          <a:prstGeom prst="rect">
            <a:avLst/>
          </a:prstGeom>
          <a:solidFill>
            <a:srgbClr val="2A6F5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6492240" y="1719072"/>
            <a:ext cx="49377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1">
                <a:solidFill>
                  <a:srgbClr val="1B4D3E"/>
                </a:solidFill>
                <a:latin typeface="Calibri"/>
              </a:rPr>
              <a:t>Integrations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446520" y="2057400"/>
            <a:ext cx="4937760" cy="3749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</a:pPr>
            <a:r>
              <a:rPr sz="1300" b="0">
                <a:solidFill>
                  <a:srgbClr val="5A6662"/>
                </a:solidFill>
                <a:latin typeface="Calibri"/>
              </a:rPr>
              <a:t>•  REST API for external apps</a:t>
            </a:r>
          </a:p>
          <a:p>
            <a:pPr algn="l">
              <a:spcAft>
                <a:spcPts val="600"/>
              </a:spcAft>
            </a:pPr>
            <a:r>
              <a:rPr sz="1300" b="0">
                <a:solidFill>
                  <a:srgbClr val="5A6662"/>
                </a:solidFill>
                <a:latin typeface="Calibri"/>
              </a:rPr>
              <a:t>•  OAuth login (Google / Microsoft / GitHub)</a:t>
            </a:r>
          </a:p>
          <a:p>
            <a:pPr algn="l">
              <a:spcAft>
                <a:spcPts val="600"/>
              </a:spcAft>
            </a:pPr>
            <a:r>
              <a:rPr sz="1300" b="0">
                <a:solidFill>
                  <a:srgbClr val="5A6662"/>
                </a:solidFill>
                <a:latin typeface="Calibri"/>
              </a:rPr>
              <a:t>•  Background jobs via Celery</a:t>
            </a:r>
          </a:p>
          <a:p>
            <a:pPr algn="l">
              <a:spcAft>
                <a:spcPts val="600"/>
              </a:spcAft>
            </a:pPr>
            <a:r>
              <a:rPr sz="1300" b="0">
                <a:solidFill>
                  <a:srgbClr val="5A6662"/>
                </a:solidFill>
                <a:latin typeface="Calibri"/>
              </a:rPr>
              <a:t>•  Ready for biometrics &amp; payroll banks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5F7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73152"/>
          </a:xfrm>
          <a:prstGeom prst="rect">
            <a:avLst/>
          </a:prstGeom>
          <a:solidFill>
            <a:srgbClr val="1B4D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6784848"/>
            <a:ext cx="12191695" cy="73152"/>
          </a:xfrm>
          <a:prstGeom prst="rect">
            <a:avLst/>
          </a:prstGeom>
          <a:solidFill>
            <a:srgbClr val="1B4D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40080" y="320040"/>
            <a:ext cx="100584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200" b="1">
                <a:solidFill>
                  <a:srgbClr val="1B4D3E"/>
                </a:solidFill>
                <a:latin typeface="Calibri"/>
              </a:rPr>
              <a:t>11. Security &amp; Access Control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822960"/>
            <a:ext cx="10515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0">
                <a:solidFill>
                  <a:srgbClr val="5A6662"/>
                </a:solidFill>
                <a:latin typeface="Calibri"/>
              </a:rPr>
              <a:t>Enterprise-ready protection</a:t>
            </a:r>
          </a:p>
        </p:txBody>
      </p:sp>
      <p:sp>
        <p:nvSpPr>
          <p:cNvPr id="7" name="Rectangle 6"/>
          <p:cNvSpPr/>
          <p:nvPr/>
        </p:nvSpPr>
        <p:spPr>
          <a:xfrm>
            <a:off x="640080" y="1234440"/>
            <a:ext cx="1097280" cy="54864"/>
          </a:xfrm>
          <a:prstGeom prst="rect">
            <a:avLst/>
          </a:prstGeom>
          <a:solidFill>
            <a:srgbClr val="C4A35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822960" y="1554480"/>
            <a:ext cx="1051560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1200"/>
              </a:spcAft>
            </a:pPr>
            <a:r>
              <a:rPr sz="1900" b="0">
                <a:solidFill>
                  <a:srgbClr val="1A1F1E"/>
                </a:solidFill>
                <a:latin typeface="Calibri"/>
              </a:rPr>
              <a:t>•  Secure login with email or phone</a:t>
            </a:r>
          </a:p>
          <a:p>
            <a:pPr algn="l">
              <a:spcAft>
                <a:spcPts val="1200"/>
              </a:spcAft>
            </a:pPr>
            <a:r>
              <a:rPr sz="1900" b="0">
                <a:solidFill>
                  <a:srgbClr val="1A1F1E"/>
                </a:solidFill>
                <a:latin typeface="Calibri"/>
              </a:rPr>
              <a:t>•  Optional MFA (one-time codes)</a:t>
            </a:r>
          </a:p>
          <a:p>
            <a:pPr algn="l">
              <a:spcAft>
                <a:spcPts val="1200"/>
              </a:spcAft>
            </a:pPr>
            <a:r>
              <a:rPr sz="1900" b="0">
                <a:solidFill>
                  <a:srgbClr val="1A1F1E"/>
                </a:solidFill>
                <a:latin typeface="Calibri"/>
              </a:rPr>
              <a:t>•  Account lockout after failed attempts</a:t>
            </a:r>
          </a:p>
          <a:p>
            <a:pPr algn="l">
              <a:spcAft>
                <a:spcPts val="1200"/>
              </a:spcAft>
            </a:pPr>
            <a:r>
              <a:rPr sz="1900" b="0">
                <a:solidFill>
                  <a:srgbClr val="1A1F1E"/>
                </a:solidFill>
                <a:latin typeface="Calibri"/>
              </a:rPr>
              <a:t>•  Role-Based Access Control (RBAC)</a:t>
            </a:r>
          </a:p>
          <a:p>
            <a:pPr algn="l">
              <a:spcAft>
                <a:spcPts val="1200"/>
              </a:spcAft>
            </a:pPr>
            <a:r>
              <a:rPr sz="1900" b="0">
                <a:solidFill>
                  <a:srgbClr val="1A1F1E"/>
                </a:solidFill>
                <a:latin typeface="Calibri"/>
              </a:rPr>
              <a:t>•  Tenant isolation — no cross-company data leaks</a:t>
            </a:r>
          </a:p>
          <a:p>
            <a:pPr algn="l">
              <a:spcAft>
                <a:spcPts val="1200"/>
              </a:spcAft>
            </a:pPr>
            <a:r>
              <a:rPr sz="1900" b="0">
                <a:solidFill>
                  <a:srgbClr val="1A1F1E"/>
                </a:solidFill>
                <a:latin typeface="Calibri"/>
              </a:rPr>
              <a:t>•  Audit logs track important actions</a:t>
            </a:r>
          </a:p>
          <a:p>
            <a:pPr algn="l">
              <a:spcAft>
                <a:spcPts val="1200"/>
              </a:spcAft>
            </a:pPr>
            <a:r>
              <a:rPr sz="1900" b="0">
                <a:solidFill>
                  <a:srgbClr val="1A1F1E"/>
                </a:solidFill>
                <a:latin typeface="Calibri"/>
              </a:rPr>
              <a:t>•  Super Admin can customize which roles a tenant uses</a:t>
            </a: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5F7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73152"/>
          </a:xfrm>
          <a:prstGeom prst="rect">
            <a:avLst/>
          </a:prstGeom>
          <a:solidFill>
            <a:srgbClr val="1B4D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6784848"/>
            <a:ext cx="12191695" cy="73152"/>
          </a:xfrm>
          <a:prstGeom prst="rect">
            <a:avLst/>
          </a:prstGeom>
          <a:solidFill>
            <a:srgbClr val="1B4D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40080" y="320040"/>
            <a:ext cx="100584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200" b="1">
                <a:solidFill>
                  <a:srgbClr val="1B4D3E"/>
                </a:solidFill>
                <a:latin typeface="Calibri"/>
              </a:rPr>
              <a:t>12. System Settings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822960"/>
            <a:ext cx="10515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0">
                <a:solidFill>
                  <a:srgbClr val="5A6662"/>
                </a:solidFill>
                <a:latin typeface="Calibri"/>
              </a:rPr>
              <a:t>Configure the tenant to match your organization</a:t>
            </a:r>
          </a:p>
        </p:txBody>
      </p:sp>
      <p:sp>
        <p:nvSpPr>
          <p:cNvPr id="7" name="Rectangle 6"/>
          <p:cNvSpPr/>
          <p:nvPr/>
        </p:nvSpPr>
        <p:spPr>
          <a:xfrm>
            <a:off x="640080" y="1234440"/>
            <a:ext cx="1097280" cy="54864"/>
          </a:xfrm>
          <a:prstGeom prst="rect">
            <a:avLst/>
          </a:prstGeom>
          <a:solidFill>
            <a:srgbClr val="C4A35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822960" y="1554480"/>
            <a:ext cx="1051560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1600"/>
              </a:spcAft>
            </a:pPr>
            <a:r>
              <a:rPr sz="2000" b="0">
                <a:solidFill>
                  <a:srgbClr val="1A1F1E"/>
                </a:solidFill>
                <a:latin typeface="Calibri"/>
              </a:rPr>
              <a:t>•  Manage users and assign roles</a:t>
            </a:r>
          </a:p>
          <a:p>
            <a:pPr algn="l">
              <a:spcAft>
                <a:spcPts val="1600"/>
              </a:spcAft>
            </a:pPr>
            <a:r>
              <a:rPr sz="2000" b="0">
                <a:solidFill>
                  <a:srgbClr val="1A1F1E"/>
                </a:solidFill>
                <a:latin typeface="Calibri"/>
              </a:rPr>
              <a:t>•  Role Catalog: enable or remove roles per tenant needs</a:t>
            </a:r>
          </a:p>
          <a:p>
            <a:pPr algn="l">
              <a:spcAft>
                <a:spcPts val="1600"/>
              </a:spcAft>
            </a:pPr>
            <a:r>
              <a:rPr sz="2000" b="0">
                <a:solidFill>
                  <a:srgbClr val="1A1F1E"/>
                </a:solidFill>
                <a:latin typeface="Calibri"/>
              </a:rPr>
              <a:t>•  Organize branches, departments, and job titles</a:t>
            </a:r>
          </a:p>
          <a:p>
            <a:pPr algn="l">
              <a:spcAft>
                <a:spcPts val="1600"/>
              </a:spcAft>
            </a:pPr>
            <a:r>
              <a:rPr sz="2000" b="0">
                <a:solidFill>
                  <a:srgbClr val="1A1F1E"/>
                </a:solidFill>
                <a:latin typeface="Calibri"/>
              </a:rPr>
              <a:t>•  Company profile and operational preferences</a:t>
            </a:r>
          </a:p>
          <a:p>
            <a:pPr algn="l">
              <a:spcAft>
                <a:spcPts val="1600"/>
              </a:spcAft>
            </a:pPr>
            <a:r>
              <a:rPr sz="2000" b="0">
                <a:solidFill>
                  <a:srgbClr val="1A1F1E"/>
                </a:solidFill>
                <a:latin typeface="Calibri"/>
              </a:rPr>
              <a:t>•  Keep structure clean as the business grows</a:t>
            </a: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5F7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73152"/>
          </a:xfrm>
          <a:prstGeom prst="rect">
            <a:avLst/>
          </a:prstGeom>
          <a:solidFill>
            <a:srgbClr val="1B4D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6784848"/>
            <a:ext cx="12191695" cy="73152"/>
          </a:xfrm>
          <a:prstGeom prst="rect">
            <a:avLst/>
          </a:prstGeom>
          <a:solidFill>
            <a:srgbClr val="1B4D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40080" y="320040"/>
            <a:ext cx="100584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200" b="1">
                <a:solidFill>
                  <a:srgbClr val="1B4D3E"/>
                </a:solidFill>
                <a:latin typeface="Calibri"/>
              </a:rPr>
              <a:t>Why HRMS Pro?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822960"/>
            <a:ext cx="10515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0">
                <a:solidFill>
                  <a:srgbClr val="5A6662"/>
                </a:solidFill>
                <a:latin typeface="Calibri"/>
              </a:rPr>
              <a:t>Clear business value</a:t>
            </a:r>
          </a:p>
        </p:txBody>
      </p:sp>
      <p:sp>
        <p:nvSpPr>
          <p:cNvPr id="7" name="Rectangle 6"/>
          <p:cNvSpPr/>
          <p:nvPr/>
        </p:nvSpPr>
        <p:spPr>
          <a:xfrm>
            <a:off x="640080" y="1234440"/>
            <a:ext cx="1097280" cy="54864"/>
          </a:xfrm>
          <a:prstGeom prst="rect">
            <a:avLst/>
          </a:prstGeom>
          <a:solidFill>
            <a:srgbClr val="C4A35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ounded Rectangle 7"/>
          <p:cNvSpPr/>
          <p:nvPr/>
        </p:nvSpPr>
        <p:spPr>
          <a:xfrm>
            <a:off x="640080" y="1554480"/>
            <a:ext cx="3566160" cy="2057400"/>
          </a:xfrm>
          <a:prstGeom prst="roundRect">
            <a:avLst/>
          </a:prstGeom>
          <a:solidFill>
            <a:srgbClr val="FFFFFF"/>
          </a:solidFill>
          <a:ln>
            <a:solidFill>
              <a:srgbClr val="D5E0D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640080" y="1554480"/>
            <a:ext cx="109728" cy="2057400"/>
          </a:xfrm>
          <a:prstGeom prst="rect">
            <a:avLst/>
          </a:prstGeom>
          <a:solidFill>
            <a:srgbClr val="2A6F5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914400" y="1719072"/>
            <a:ext cx="3200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1">
                <a:solidFill>
                  <a:srgbClr val="1B4D3E"/>
                </a:solidFill>
                <a:latin typeface="Calibri"/>
              </a:rPr>
              <a:t>One system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868680" y="2057400"/>
            <a:ext cx="3200400" cy="1417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</a:pPr>
            <a:r>
              <a:rPr sz="1300" b="0">
                <a:solidFill>
                  <a:srgbClr val="5A6662"/>
                </a:solidFill>
                <a:latin typeface="Calibri"/>
              </a:rPr>
              <a:t>•  No more scattered Excel files and tools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4389119" y="1554480"/>
            <a:ext cx="3566160" cy="2057400"/>
          </a:xfrm>
          <a:prstGeom prst="roundRect">
            <a:avLst/>
          </a:prstGeom>
          <a:solidFill>
            <a:srgbClr val="FFFFFF"/>
          </a:solidFill>
          <a:ln>
            <a:solidFill>
              <a:srgbClr val="D5E0D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4389119" y="1554480"/>
            <a:ext cx="109728" cy="2057400"/>
          </a:xfrm>
          <a:prstGeom prst="rect">
            <a:avLst/>
          </a:prstGeom>
          <a:solidFill>
            <a:srgbClr val="2A6F5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4663439" y="1719072"/>
            <a:ext cx="3200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1">
                <a:solidFill>
                  <a:srgbClr val="1B4D3E"/>
                </a:solidFill>
                <a:latin typeface="Calibri"/>
              </a:rPr>
              <a:t>Faster HR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4617719" y="2057400"/>
            <a:ext cx="3200400" cy="1417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</a:pPr>
            <a:r>
              <a:rPr sz="1300" b="0">
                <a:solidFill>
                  <a:srgbClr val="5A6662"/>
                </a:solidFill>
                <a:latin typeface="Calibri"/>
              </a:rPr>
              <a:t>•  Hire, approve leave, and run payroll quicker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8138159" y="1554480"/>
            <a:ext cx="3566160" cy="2057400"/>
          </a:xfrm>
          <a:prstGeom prst="roundRect">
            <a:avLst/>
          </a:prstGeom>
          <a:solidFill>
            <a:srgbClr val="FFFFFF"/>
          </a:solidFill>
          <a:ln>
            <a:solidFill>
              <a:srgbClr val="D5E0D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8138159" y="1554480"/>
            <a:ext cx="109728" cy="2057400"/>
          </a:xfrm>
          <a:prstGeom prst="rect">
            <a:avLst/>
          </a:prstGeom>
          <a:solidFill>
            <a:srgbClr val="2A6F5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8412479" y="1719072"/>
            <a:ext cx="3200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1">
                <a:solidFill>
                  <a:srgbClr val="1B4D3E"/>
                </a:solidFill>
                <a:latin typeface="Calibri"/>
              </a:rPr>
              <a:t>Fewer errors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8366759" y="2057400"/>
            <a:ext cx="3200400" cy="1417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</a:pPr>
            <a:r>
              <a:rPr sz="1300" b="0">
                <a:solidFill>
                  <a:srgbClr val="5A6662"/>
                </a:solidFill>
                <a:latin typeface="Calibri"/>
              </a:rPr>
              <a:t>•  Balances, deductions, and AI checks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640080" y="3840480"/>
            <a:ext cx="3566160" cy="2057400"/>
          </a:xfrm>
          <a:prstGeom prst="roundRect">
            <a:avLst/>
          </a:prstGeom>
          <a:solidFill>
            <a:srgbClr val="FFFFFF"/>
          </a:solidFill>
          <a:ln>
            <a:solidFill>
              <a:srgbClr val="D5E0D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ectangle 20"/>
          <p:cNvSpPr/>
          <p:nvPr/>
        </p:nvSpPr>
        <p:spPr>
          <a:xfrm>
            <a:off x="640080" y="3840480"/>
            <a:ext cx="109728" cy="2057400"/>
          </a:xfrm>
          <a:prstGeom prst="rect">
            <a:avLst/>
          </a:prstGeom>
          <a:solidFill>
            <a:srgbClr val="2A6F5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914400" y="4005072"/>
            <a:ext cx="3200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1">
                <a:solidFill>
                  <a:srgbClr val="1B4D3E"/>
                </a:solidFill>
                <a:latin typeface="Calibri"/>
              </a:rPr>
              <a:t>Better control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868680" y="4343400"/>
            <a:ext cx="3200400" cy="1417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</a:pPr>
            <a:r>
              <a:rPr sz="1300" b="0">
                <a:solidFill>
                  <a:srgbClr val="5A6662"/>
                </a:solidFill>
                <a:latin typeface="Calibri"/>
              </a:rPr>
              <a:t>•  Roles, tenants, and audit trails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4389119" y="3840480"/>
            <a:ext cx="3566160" cy="2057400"/>
          </a:xfrm>
          <a:prstGeom prst="roundRect">
            <a:avLst/>
          </a:prstGeom>
          <a:solidFill>
            <a:srgbClr val="FFFFFF"/>
          </a:solidFill>
          <a:ln>
            <a:solidFill>
              <a:srgbClr val="D5E0D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Rectangle 24"/>
          <p:cNvSpPr/>
          <p:nvPr/>
        </p:nvSpPr>
        <p:spPr>
          <a:xfrm>
            <a:off x="4389119" y="3840480"/>
            <a:ext cx="109728" cy="2057400"/>
          </a:xfrm>
          <a:prstGeom prst="rect">
            <a:avLst/>
          </a:prstGeom>
          <a:solidFill>
            <a:srgbClr val="2A6F5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4663439" y="4005072"/>
            <a:ext cx="3200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1">
                <a:solidFill>
                  <a:srgbClr val="1B4D3E"/>
                </a:solidFill>
                <a:latin typeface="Calibri"/>
              </a:rPr>
              <a:t>Scalable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4617719" y="4343400"/>
            <a:ext cx="3200400" cy="1417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</a:pPr>
            <a:r>
              <a:rPr sz="1300" b="0">
                <a:solidFill>
                  <a:srgbClr val="5A6662"/>
                </a:solidFill>
                <a:latin typeface="Calibri"/>
              </a:rPr>
              <a:t>•  Works for one company or many</a:t>
            </a:r>
          </a:p>
        </p:txBody>
      </p:sp>
      <p:sp>
        <p:nvSpPr>
          <p:cNvPr id="28" name="Rounded Rectangle 27"/>
          <p:cNvSpPr/>
          <p:nvPr/>
        </p:nvSpPr>
        <p:spPr>
          <a:xfrm>
            <a:off x="8138159" y="3840480"/>
            <a:ext cx="3566160" cy="2057400"/>
          </a:xfrm>
          <a:prstGeom prst="roundRect">
            <a:avLst/>
          </a:prstGeom>
          <a:solidFill>
            <a:srgbClr val="FFFFFF"/>
          </a:solidFill>
          <a:ln>
            <a:solidFill>
              <a:srgbClr val="D5E0D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Rectangle 28"/>
          <p:cNvSpPr/>
          <p:nvPr/>
        </p:nvSpPr>
        <p:spPr>
          <a:xfrm>
            <a:off x="8138159" y="3840480"/>
            <a:ext cx="109728" cy="2057400"/>
          </a:xfrm>
          <a:prstGeom prst="rect">
            <a:avLst/>
          </a:prstGeom>
          <a:solidFill>
            <a:srgbClr val="2A6F5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8412479" y="4005072"/>
            <a:ext cx="3200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1">
                <a:solidFill>
                  <a:srgbClr val="1B4D3E"/>
                </a:solidFill>
                <a:latin typeface="Calibri"/>
              </a:rPr>
              <a:t>Future-ready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8366759" y="4343400"/>
            <a:ext cx="3200400" cy="1417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</a:pPr>
            <a:r>
              <a:rPr sz="1300" b="0">
                <a:solidFill>
                  <a:srgbClr val="5A6662"/>
                </a:solidFill>
                <a:latin typeface="Calibri"/>
              </a:rPr>
              <a:t>•  API + AI + integrations</a:t>
            </a: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B4D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5394960"/>
            <a:ext cx="12191695" cy="1463040"/>
          </a:xfrm>
          <a:prstGeom prst="rect">
            <a:avLst/>
          </a:prstGeom>
          <a:solidFill>
            <a:srgbClr val="2A6F5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822960" y="2011680"/>
            <a:ext cx="105156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4400" b="1">
                <a:solidFill>
                  <a:srgbClr val="FFFFFF"/>
                </a:solidFill>
                <a:latin typeface="Calibri"/>
              </a:rPr>
              <a:t>Thank You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22960" y="3108960"/>
            <a:ext cx="105156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200" b="0">
                <a:solidFill>
                  <a:srgbClr val="C8D9D3"/>
                </a:solidFill>
                <a:latin typeface="Calibri"/>
              </a:rPr>
              <a:t>Questions? Let’s walk through a live demo.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22960" y="5760720"/>
            <a:ext cx="105156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0">
                <a:solidFill>
                  <a:srgbClr val="FFFFFF"/>
                </a:solidFill>
                <a:latin typeface="Calibri"/>
              </a:rPr>
              <a:t>HRMS Pro  ·  Human Resource &amp; Payroll System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