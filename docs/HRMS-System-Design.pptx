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HRMS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Enterprise Human Resource Management System</a:t>
            </a:r>
            <a:br/>
            <a:r>
              <a:t>System Design • Flowcharts • Database Architecture</a:t>
            </a:r>
            <a:br/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System Overview &amp;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Authentication &amp; Security Flow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Business Process Flowcharts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→ Recruitment, Leave, Payroll, Attendance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Database Design &amp; Entity Relationships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Multi-Tenant Company Hub Model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Table Reference (58+ entities)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Technology Stack &amp;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i="1">
                <a:solidFill>
                  <a:srgbClr val="64748B"/>
                </a:solidFill>
              </a:defRPr>
            </a:pPr>
            <a:r>
              <a:t>Eliminates fragmented HR systems across departments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All-in-one HR &amp; Payroll platform for SMB to Enterprise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17 modular Django apps with API-first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Multi-company, multi-branch, multi-country support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Consolidates: HR, Payroll, Leave, Recruitment, Attendance, Performance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AI-powered: Resume screening, anomaly detection, attrition prediction, chatbot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Enterprise security: RBAC, MFA, JWT, LDAP, OAuth, Audit logs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Backend: Django 5 + Django REST Framework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Database: PostgreSQL 16 (SQLite for dev)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Cache/Queue: Redis + Celery + Celery Beat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Auth: JWT, django-allauth, django-otp (MFA)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Frontend: Bootstrap 5, Chart.js, HTMX-ready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Server: Gunicorn + Nginx reverse proxy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Container: Docker Compose (web, db, redis, celery, nginx)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CI/CD: GitHub Actions with pytest + ruff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API Docs: OpenAPI / Swagger at /api/docs/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Application Architecture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Client (Web / Mobile / API) → Nginx Gateway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Nginx → Gunicorn (Django WSGI)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Middleware Chain: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  Security → CORS → Auth → OTP → Audit Log → Session Activity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Route → ViewSet (DRF) → Service Layer → PostgreSQL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Async Tasks → Celery Workers → Redis Broker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Response: JSON (API) or HTML (Dashboard)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Authentication 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Authentication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143000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User Login Request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892808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Select Auth 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642616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Validate Credentials</a:t>
            </a:r>
          </a:p>
        </p:txBody>
      </p:sp>
      <p:sp>
        <p:nvSpPr>
          <p:cNvPr id="7" name="Diamond 6"/>
          <p:cNvSpPr/>
          <p:nvPr/>
        </p:nvSpPr>
        <p:spPr>
          <a:xfrm>
            <a:off x="3108960" y="3392424"/>
            <a:ext cx="2926080" cy="640080"/>
          </a:xfrm>
          <a:prstGeom prst="diamond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Account Locked?</a:t>
            </a:r>
          </a:p>
        </p:txBody>
      </p:sp>
      <p:sp>
        <p:nvSpPr>
          <p:cNvPr id="8" name="Diamond 7"/>
          <p:cNvSpPr/>
          <p:nvPr/>
        </p:nvSpPr>
        <p:spPr>
          <a:xfrm>
            <a:off x="3108960" y="4279392"/>
            <a:ext cx="2926080" cy="640080"/>
          </a:xfrm>
          <a:prstGeom prst="diamond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Password Valid?</a:t>
            </a:r>
          </a:p>
        </p:txBody>
      </p:sp>
      <p:sp>
        <p:nvSpPr>
          <p:cNvPr id="9" name="Diamond 8"/>
          <p:cNvSpPr/>
          <p:nvPr/>
        </p:nvSpPr>
        <p:spPr>
          <a:xfrm>
            <a:off x="3108960" y="5166360"/>
            <a:ext cx="2926080" cy="640080"/>
          </a:xfrm>
          <a:prstGeom prst="diamond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MFA Enabled?</a:t>
            </a:r>
          </a:p>
        </p:txBody>
      </p:sp>
      <p:sp>
        <p:nvSpPr>
          <p:cNvPr id="10" name="Diamond 9"/>
          <p:cNvSpPr/>
          <p:nvPr/>
        </p:nvSpPr>
        <p:spPr>
          <a:xfrm>
            <a:off x="3108960" y="6053328"/>
            <a:ext cx="2926080" cy="640080"/>
          </a:xfrm>
          <a:prstGeom prst="diamond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Verify TOTP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6940296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Create Session + JWT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7690104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Load RBAC Permissions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8439912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Dashboard / API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User Roles (RBAC)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Super Admin — Full system access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HR Administrator — HR module management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Payroll Officer — Payroll processing &amp; approval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Recruiter — Job postings, ATS, interviews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Manager / Supervisor — Team approvals &amp; oversight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Employee — Self-service portal (ESS)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Finance Officer — Financial reports &amp; payroll approval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Department Head — Department-scoped data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Casual Supervisor — Casual worker management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Auditor — Read-only access to audit logs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Business Process Flowcharts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Recruitment &amp; Onboarding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143000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HR Creates Job Posting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892808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Publish to Career 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642616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Applicant Submits Resume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3392424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 Resume Screening &amp; Ranking</a:t>
            </a:r>
          </a:p>
        </p:txBody>
      </p:sp>
      <p:sp>
        <p:nvSpPr>
          <p:cNvPr id="8" name="Diamond 7"/>
          <p:cNvSpPr/>
          <p:nvPr/>
        </p:nvSpPr>
        <p:spPr>
          <a:xfrm>
            <a:off x="3108960" y="4142232"/>
            <a:ext cx="2926080" cy="640080"/>
          </a:xfrm>
          <a:prstGeom prst="diamond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Qualified Candidate?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5029200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Schedule &amp; Conduct Interview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5779008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Generate Offer Letter</a:t>
            </a:r>
          </a:p>
        </p:txBody>
      </p:sp>
      <p:sp>
        <p:nvSpPr>
          <p:cNvPr id="11" name="Diamond 10"/>
          <p:cNvSpPr/>
          <p:nvPr/>
        </p:nvSpPr>
        <p:spPr>
          <a:xfrm>
            <a:off x="3108960" y="6528816"/>
            <a:ext cx="2926080" cy="640080"/>
          </a:xfrm>
          <a:prstGeom prst="diamond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Offer Accepted?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7415784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Create Employee Record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8165592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Digital Onboarding Checklist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8915400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Employee Active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Leave Management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143000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Employee Applies for Leave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892808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Check Leave Balance</a:t>
            </a:r>
          </a:p>
        </p:txBody>
      </p:sp>
      <p:sp>
        <p:nvSpPr>
          <p:cNvPr id="6" name="Diamond 5"/>
          <p:cNvSpPr/>
          <p:nvPr/>
        </p:nvSpPr>
        <p:spPr>
          <a:xfrm>
            <a:off x="3108960" y="2642616"/>
            <a:ext cx="2926080" cy="640080"/>
          </a:xfrm>
          <a:prstGeom prst="diamond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Sufficient Balance?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3529584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Create LeaveRequest (Pending)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4279392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Supervisor Approval (L1)</a:t>
            </a:r>
          </a:p>
        </p:txBody>
      </p:sp>
      <p:sp>
        <p:nvSpPr>
          <p:cNvPr id="9" name="Diamond 8"/>
          <p:cNvSpPr/>
          <p:nvPr/>
        </p:nvSpPr>
        <p:spPr>
          <a:xfrm>
            <a:off x="3108960" y="5029200"/>
            <a:ext cx="2926080" cy="640080"/>
          </a:xfrm>
          <a:prstGeom prst="diamond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Approved?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5916168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Manager/HR Approval (L2)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6665976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Final Approval → Deduct Balance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7415784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Update Attendance Calendar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Payroll Processing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143000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Create Payroll Run (Draft)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892808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Celery: Process All Employees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642616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Calculate Gross Pay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3392424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Apply Deductions &amp; Tax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4142232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Generate Payslips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4892040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 Anomaly Detection</a:t>
            </a:r>
          </a:p>
        </p:txBody>
      </p:sp>
      <p:sp>
        <p:nvSpPr>
          <p:cNvPr id="10" name="Diamond 9"/>
          <p:cNvSpPr/>
          <p:nvPr/>
        </p:nvSpPr>
        <p:spPr>
          <a:xfrm>
            <a:off x="3108960" y="5641848"/>
            <a:ext cx="2926080" cy="640080"/>
          </a:xfrm>
          <a:prstGeom prst="diamond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Payroll Officer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6528816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Finance Approval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7278624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Status: Paid → PDF Payslips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Time &amp; Attendance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143000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Employee Check-In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892808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Method: Manual / Biometric / QR / GPS / 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642616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Create AttendanceRecord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3392424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Compare with Shift &amp; Roster</a:t>
            </a:r>
          </a:p>
        </p:txBody>
      </p:sp>
      <p:sp>
        <p:nvSpPr>
          <p:cNvPr id="8" name="Diamond 7"/>
          <p:cNvSpPr/>
          <p:nvPr/>
        </p:nvSpPr>
        <p:spPr>
          <a:xfrm>
            <a:off x="3108960" y="4142232"/>
            <a:ext cx="2926080" cy="640080"/>
          </a:xfrm>
          <a:prstGeom prst="diamond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Late Arrival?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5029200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 Anomaly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5779008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Check-Out → Calculate Hours &amp; Overtime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6528816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Sync to Payroll Module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Disciplinary Process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143000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Incident Reported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892808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Create Incident Record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642616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Investigation</a:t>
            </a:r>
          </a:p>
        </p:txBody>
      </p:sp>
      <p:sp>
        <p:nvSpPr>
          <p:cNvPr id="7" name="Diamond 6"/>
          <p:cNvSpPr/>
          <p:nvPr/>
        </p:nvSpPr>
        <p:spPr>
          <a:xfrm>
            <a:off x="3108960" y="3392424"/>
            <a:ext cx="2926080" cy="640080"/>
          </a:xfrm>
          <a:prstGeom prst="diamond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Assess Severity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4279392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Verbal / Written Warning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5029200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Disciplinary Hearing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5779008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Suspension or Termination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6528816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Case Closed + Audit Trail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Database Design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Database Hub — Company-Centric Multi-Tenant Design</a:t>
            </a:r>
          </a:p>
        </p:txBody>
      </p:sp>
      <p:sp>
        <p:nvSpPr>
          <p:cNvPr id="4" name="Oval 3"/>
          <p:cNvSpPr/>
          <p:nvPr/>
        </p:nvSpPr>
        <p:spPr>
          <a:xfrm>
            <a:off x="3474720" y="2560320"/>
            <a:ext cx="2194560" cy="128016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COMPANY</a:t>
            </a:r>
            <a:br/>
            <a:r>
              <a:t>(Root Tenant)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5486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Branch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1645920" cy="5486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645920" cy="548640"/>
          </a:xfrm>
          <a:prstGeom prst="roundRect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User / 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114800"/>
            <a:ext cx="1645920" cy="548640"/>
          </a:xfrm>
          <a:prstGeom prst="roundRect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Employee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926080"/>
            <a:ext cx="1645920" cy="54864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Payroll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926080"/>
            <a:ext cx="1645920" cy="54864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Leave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303520"/>
            <a:ext cx="1645920" cy="54864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Attendance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5303520"/>
            <a:ext cx="1645920" cy="54864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Recruitment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188720"/>
            <a:ext cx="1645920" cy="54864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Performance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188720"/>
            <a:ext cx="1645920" cy="548640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Disciplinary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Core &amp; Organization Entities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 Relationships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Scoped to Company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Root tenant — all entities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N/A (root)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Branch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Company → Branch (1:N)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Company, Branch, Parent, Head (1:N)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Designation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Company → Designation (1:N)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Holiday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Company, Branch (1:N)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SystemSetting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Company key-value config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Optional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Authentication &amp; Security Entities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 Relationships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Scoped to Company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Company, Branch, Groups (1:N)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PermissionGroup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Company, JSON permissions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Optional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UserPermissionGroup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User ↔ Group (M:N)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APIToken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User → Token (1:N)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AuditLog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User, Company, action,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Optional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UserSession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User session tracking (1:N)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Employee Management Entities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8412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 Relationships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Scoped to Company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Company, User(1:1), Manager(self)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EmployeeContract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Employee → Contract (1:N)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EmployeeDocument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Employee → Document (1:N)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EmployeeHistory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Employee change audit (1:N)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Recruitment Entities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8412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 Relationships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Scoped to Company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JobPosting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Company, Dept, Designation (1:N)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Applicant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UUID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Job → Applicant (1:N), AI score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Interview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Applicant, Interviewer (1:N)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OfferLetter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Applicant (1:1)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OnboardingChecklist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Employee → Tasks (1:N)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Payroll Entities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 Relationships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Scoped to Company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SalaryStructure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Company templates (1:N)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Allowance / Deduction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Company definitions (1:N)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EmployeeSalary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Employee (1:1), M:N allowances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PayrollRun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UUID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Company → Run (1:N), approved_by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Payslip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PayrollRun, Employee (1:N)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Loan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Employee → Loan (1:N)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Leave &amp; Attendance Entities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8412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 Relationships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Scoped to Company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LeaveType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Company leave policies (1:N)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LeaveBalance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Employee + Type + Year (1:N)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LeaveRequest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Employee, Type, Approvals (1:N)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LeaveApproval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Request → Multi-level (1:N)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Company shift definitions (1:N)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AttendanceRecord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UUID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Employee + Date unique (1:N)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Roster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Employee + Shift + Date (1:N)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BiometricDevice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Branch device registry (1:N)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Performance, Relations &amp; Other Entities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8412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 Relationships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Scoped to Company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PerformanceCycle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Company review cycles (1:N)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Goal / KPI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Employee goals, dept KPIs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PerformanceReview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Employee + Cycle (1:N)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Feedback360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Review → Feedback (1:N)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Grievance /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Employee relations (1:N)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Incident / Warning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UUID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Disciplinary chain (1:N)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CasualWorker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Casual mgmt + attendance (1:N)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Survey / Question / Response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UUID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Feedback surveys (1:N)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AIAnalysisJob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AI job queue &amp;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IntegrationProvider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Auto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ERP, SMS, payment gateways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Notification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User notifications (1:N)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Relationship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i="1">
                <a:solidFill>
                  <a:srgbClr val="64748B"/>
                </a:solidFill>
              </a:defRPr>
            </a:pPr>
            <a:r>
              <a:t>58+ custom tables + Django system tables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Company is the root tenant — virtually all business data scoped via company_id FK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Employee is the central HR entity — links to User (1:1), Manager (self-ref), Org structure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User ↔ Employee: optional 1:1 link enabling Employee Self-Service (ESS)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LeaveRequest → LeaveApproval: multi-level approval chain (level 1, 2, 3...)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PayrollRun → Payslip: one run generates N payslips; AI flags anomalies per payslip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JobPosting → Applicant → OfferLetter → Employee: recruitment-to-hire pipeline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Incident → Warning → Hearing → Suspension: disciplinary escalation chain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EmployeeSalary M:N Allowances &amp; Deductions via junction tables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All tables include created_at / updated_at timestamps (TimeStampedModel)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Docker Compose services: web, db, redis, celery, celery-beat, nginx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Production: AWS / Azure with managed PostgreSQL &amp; Redis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Environment config via .env (django-environ)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Static files: WhiteNoise + Nginx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Background jobs: payroll processing, email, leave accrual, AI screening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Backup &amp; Restore: PostgreSQL pg_dump + media files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Monitoring: Sentry integration (production)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HRMS Pro v1.0.0</a:t>
            </a:r>
            <a:br/>
            <a:r>
              <a:t>Documentation: docs/HRMS-System-Design-Documentation.md</a:t>
            </a:r>
            <a:br/>
            <a:r>
              <a:t>API Docs: /api/docs/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